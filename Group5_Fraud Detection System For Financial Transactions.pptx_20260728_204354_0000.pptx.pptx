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Roboto" charset="1" panose="02000000000000000000"/>
      <p:regular r:id="rId26"/>
    </p:embeddedFont>
    <p:embeddedFont>
      <p:font typeface="Roboto Bold" charset="1" panose="02000000000000000000"/>
      <p:regular r:id="rId27"/>
    </p:embeddedFont>
    <p:embeddedFont>
      <p:font typeface="Canva Sans Bold" charset="1" panose="020B0803030501040103"/>
      <p:regular r:id="rId29"/>
    </p:embeddedFont>
    <p:embeddedFont>
      <p:font typeface="Canva Sans" charset="1" panose="020B0503030501040103"/>
      <p:regular r:id="rId30"/>
    </p:embeddedFont>
    <p:embeddedFont>
      <p:font typeface="Roboto Bold Italics" charset="1" panose="02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4.jpe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8.jpe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37.jpe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2.jpeg" Type="http://schemas.openxmlformats.org/officeDocument/2006/relationships/image"/><Relationship Id="rId7" Target="../media/image42.jpeg" Type="http://schemas.openxmlformats.org/officeDocument/2006/relationships/image"/><Relationship Id="rId8" Target="../media/image4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14" Target="../media/image55.png" Type="http://schemas.openxmlformats.org/officeDocument/2006/relationships/image"/><Relationship Id="rId15" Target="../media/image56.svg" Type="http://schemas.openxmlformats.org/officeDocument/2006/relationships/image"/><Relationship Id="rId16" Target="../media/image57.png" Type="http://schemas.openxmlformats.org/officeDocument/2006/relationships/image"/><Relationship Id="rId17" Target="../media/image58.svg" Type="http://schemas.openxmlformats.org/officeDocument/2006/relationships/image"/><Relationship Id="rId18" Target="../media/image59.png" Type="http://schemas.openxmlformats.org/officeDocument/2006/relationships/image"/><Relationship Id="rId19" Target="../media/image60.svg" Type="http://schemas.openxmlformats.org/officeDocument/2006/relationships/image"/><Relationship Id="rId2" Target="../notesSlides/notesSlide14.xml" Type="http://schemas.openxmlformats.org/officeDocument/2006/relationships/notesSlide"/><Relationship Id="rId20" Target="../media/image61.png" Type="http://schemas.openxmlformats.org/officeDocument/2006/relationships/image"/><Relationship Id="rId21" Target="../media/image62.svg" Type="http://schemas.openxmlformats.org/officeDocument/2006/relationships/imag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46.png" Type="http://schemas.openxmlformats.org/officeDocument/2006/relationships/image"/><Relationship Id="rId6" Target="../media/image2.jpeg" Type="http://schemas.openxmlformats.org/officeDocument/2006/relationships/image"/><Relationship Id="rId7" Target="../media/image6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46.png" Type="http://schemas.openxmlformats.org/officeDocument/2006/relationships/image"/><Relationship Id="rId6" Target="../media/image2.jpeg" Type="http://schemas.openxmlformats.org/officeDocument/2006/relationships/image"/><Relationship Id="rId7" Target="../media/image64.png" Type="http://schemas.openxmlformats.org/officeDocument/2006/relationships/image"/><Relationship Id="rId8" Target="../media/image6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6588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553" y="13078"/>
            <a:ext cx="18281818" cy="10247948"/>
            <a:chOff x="0" y="0"/>
            <a:chExt cx="24375758" cy="136639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9" y="0"/>
              <a:ext cx="24375757" cy="13663930"/>
            </a:xfrm>
            <a:custGeom>
              <a:avLst/>
              <a:gdLst/>
              <a:ahLst/>
              <a:cxnLst/>
              <a:rect r="r" b="b" t="t" l="l"/>
              <a:pathLst>
                <a:path h="13663930" w="24375757">
                  <a:moveTo>
                    <a:pt x="24375696" y="12091035"/>
                  </a:moveTo>
                  <a:cubicBezTo>
                    <a:pt x="24362614" y="8677148"/>
                    <a:pt x="24206151" y="4061968"/>
                    <a:pt x="24206151" y="656717"/>
                  </a:cubicBezTo>
                  <a:cubicBezTo>
                    <a:pt x="24206151" y="604901"/>
                    <a:pt x="24219232" y="552958"/>
                    <a:pt x="24219232" y="509778"/>
                  </a:cubicBezTo>
                  <a:cubicBezTo>
                    <a:pt x="24206151" y="501142"/>
                    <a:pt x="24193197" y="501142"/>
                    <a:pt x="24180115" y="492506"/>
                  </a:cubicBezTo>
                  <a:cubicBezTo>
                    <a:pt x="24180115" y="492506"/>
                    <a:pt x="24167036" y="501142"/>
                    <a:pt x="24167036" y="509778"/>
                  </a:cubicBezTo>
                  <a:cubicBezTo>
                    <a:pt x="24141000" y="552958"/>
                    <a:pt x="24088803" y="552958"/>
                    <a:pt x="24036606" y="552958"/>
                  </a:cubicBezTo>
                  <a:cubicBezTo>
                    <a:pt x="23971455" y="544322"/>
                    <a:pt x="23906177" y="501142"/>
                    <a:pt x="23827945" y="518414"/>
                  </a:cubicBezTo>
                  <a:cubicBezTo>
                    <a:pt x="23801911" y="527050"/>
                    <a:pt x="23749714" y="509778"/>
                    <a:pt x="23736632" y="492506"/>
                  </a:cubicBezTo>
                  <a:cubicBezTo>
                    <a:pt x="23697515" y="457962"/>
                    <a:pt x="23645319" y="457962"/>
                    <a:pt x="23593249" y="475234"/>
                  </a:cubicBezTo>
                  <a:cubicBezTo>
                    <a:pt x="23567213" y="483870"/>
                    <a:pt x="23541052" y="475234"/>
                    <a:pt x="23515016" y="475234"/>
                  </a:cubicBezTo>
                  <a:cubicBezTo>
                    <a:pt x="23475901" y="475234"/>
                    <a:pt x="23423704" y="466598"/>
                    <a:pt x="23384589" y="457962"/>
                  </a:cubicBezTo>
                  <a:cubicBezTo>
                    <a:pt x="23371507" y="457962"/>
                    <a:pt x="23345472" y="449326"/>
                    <a:pt x="23332390" y="449326"/>
                  </a:cubicBezTo>
                  <a:cubicBezTo>
                    <a:pt x="23293275" y="440690"/>
                    <a:pt x="23254159" y="414782"/>
                    <a:pt x="23215043" y="449326"/>
                  </a:cubicBezTo>
                  <a:cubicBezTo>
                    <a:pt x="23215043" y="449326"/>
                    <a:pt x="23189008" y="449326"/>
                    <a:pt x="23175927" y="440690"/>
                  </a:cubicBezTo>
                  <a:cubicBezTo>
                    <a:pt x="23162846" y="423418"/>
                    <a:pt x="23149891" y="397510"/>
                    <a:pt x="23136812" y="380238"/>
                  </a:cubicBezTo>
                  <a:cubicBezTo>
                    <a:pt x="23110776" y="354330"/>
                    <a:pt x="23110776" y="311150"/>
                    <a:pt x="23071661" y="293751"/>
                  </a:cubicBezTo>
                  <a:cubicBezTo>
                    <a:pt x="23045625" y="285115"/>
                    <a:pt x="23032544" y="276479"/>
                    <a:pt x="23019464" y="259207"/>
                  </a:cubicBezTo>
                  <a:cubicBezTo>
                    <a:pt x="23019464" y="250571"/>
                    <a:pt x="22993428" y="241935"/>
                    <a:pt x="22993428" y="233299"/>
                  </a:cubicBezTo>
                  <a:lnTo>
                    <a:pt x="22954313" y="207391"/>
                  </a:lnTo>
                  <a:cubicBezTo>
                    <a:pt x="22941231" y="190119"/>
                    <a:pt x="22928277" y="164211"/>
                    <a:pt x="22902114" y="155575"/>
                  </a:cubicBezTo>
                  <a:cubicBezTo>
                    <a:pt x="22849918" y="129667"/>
                    <a:pt x="22836963" y="95123"/>
                    <a:pt x="22862999" y="51816"/>
                  </a:cubicBezTo>
                  <a:cubicBezTo>
                    <a:pt x="22823883" y="43180"/>
                    <a:pt x="22797848" y="25908"/>
                    <a:pt x="22758732" y="25908"/>
                  </a:cubicBezTo>
                  <a:cubicBezTo>
                    <a:pt x="22602268" y="34544"/>
                    <a:pt x="22432723" y="51816"/>
                    <a:pt x="22276259" y="60452"/>
                  </a:cubicBezTo>
                  <a:cubicBezTo>
                    <a:pt x="22250224" y="60452"/>
                    <a:pt x="22211108" y="69088"/>
                    <a:pt x="22198027" y="77724"/>
                  </a:cubicBezTo>
                  <a:cubicBezTo>
                    <a:pt x="22093761" y="120904"/>
                    <a:pt x="21989365" y="86360"/>
                    <a:pt x="21885099" y="77724"/>
                  </a:cubicBezTo>
                  <a:cubicBezTo>
                    <a:pt x="21806866" y="77724"/>
                    <a:pt x="21728636" y="51816"/>
                    <a:pt x="21650403" y="43180"/>
                  </a:cubicBezTo>
                  <a:cubicBezTo>
                    <a:pt x="21559089" y="34544"/>
                    <a:pt x="21480858" y="43180"/>
                    <a:pt x="21389672" y="34544"/>
                  </a:cubicBezTo>
                  <a:cubicBezTo>
                    <a:pt x="21376590" y="34544"/>
                    <a:pt x="21363638" y="25908"/>
                    <a:pt x="21350556" y="17272"/>
                  </a:cubicBezTo>
                  <a:cubicBezTo>
                    <a:pt x="21324521" y="-8636"/>
                    <a:pt x="21272324" y="0"/>
                    <a:pt x="21246288" y="8636"/>
                  </a:cubicBezTo>
                  <a:cubicBezTo>
                    <a:pt x="21207173" y="25908"/>
                    <a:pt x="21194091" y="51816"/>
                    <a:pt x="21168057" y="77724"/>
                  </a:cubicBezTo>
                  <a:cubicBezTo>
                    <a:pt x="21102906" y="86360"/>
                    <a:pt x="21011593" y="94996"/>
                    <a:pt x="20946441" y="120904"/>
                  </a:cubicBezTo>
                  <a:cubicBezTo>
                    <a:pt x="20894245" y="138176"/>
                    <a:pt x="20868211" y="146812"/>
                    <a:pt x="20829094" y="129540"/>
                  </a:cubicBezTo>
                  <a:lnTo>
                    <a:pt x="20816014" y="138176"/>
                  </a:lnTo>
                  <a:cubicBezTo>
                    <a:pt x="20842048" y="155448"/>
                    <a:pt x="20855129" y="181356"/>
                    <a:pt x="20881163" y="198628"/>
                  </a:cubicBezTo>
                  <a:cubicBezTo>
                    <a:pt x="20842048" y="207264"/>
                    <a:pt x="20789851" y="224536"/>
                    <a:pt x="20763815" y="215900"/>
                  </a:cubicBezTo>
                  <a:cubicBezTo>
                    <a:pt x="20698664" y="207264"/>
                    <a:pt x="20672503" y="224536"/>
                    <a:pt x="20620433" y="241808"/>
                  </a:cubicBezTo>
                  <a:cubicBezTo>
                    <a:pt x="20568237" y="267716"/>
                    <a:pt x="20503086" y="284988"/>
                    <a:pt x="20450889" y="302260"/>
                  </a:cubicBezTo>
                  <a:cubicBezTo>
                    <a:pt x="20437807" y="302260"/>
                    <a:pt x="20424853" y="302260"/>
                    <a:pt x="20411772" y="293624"/>
                  </a:cubicBezTo>
                  <a:cubicBezTo>
                    <a:pt x="20398690" y="293624"/>
                    <a:pt x="20385738" y="284988"/>
                    <a:pt x="20385738" y="284988"/>
                  </a:cubicBezTo>
                  <a:cubicBezTo>
                    <a:pt x="20320587" y="302260"/>
                    <a:pt x="20255308" y="319532"/>
                    <a:pt x="20190157" y="302260"/>
                  </a:cubicBezTo>
                  <a:cubicBezTo>
                    <a:pt x="20177076" y="302260"/>
                    <a:pt x="20177076" y="310896"/>
                    <a:pt x="20164122" y="310896"/>
                  </a:cubicBezTo>
                  <a:cubicBezTo>
                    <a:pt x="20085889" y="328168"/>
                    <a:pt x="20033693" y="388620"/>
                    <a:pt x="19929426" y="388620"/>
                  </a:cubicBezTo>
                  <a:cubicBezTo>
                    <a:pt x="19851194" y="388620"/>
                    <a:pt x="19772963" y="431800"/>
                    <a:pt x="19694730" y="431800"/>
                  </a:cubicBezTo>
                  <a:cubicBezTo>
                    <a:pt x="19603416" y="440436"/>
                    <a:pt x="19525186" y="457708"/>
                    <a:pt x="19446953" y="483616"/>
                  </a:cubicBezTo>
                  <a:cubicBezTo>
                    <a:pt x="19420918" y="492252"/>
                    <a:pt x="19394756" y="492252"/>
                    <a:pt x="19381802" y="492252"/>
                  </a:cubicBezTo>
                  <a:cubicBezTo>
                    <a:pt x="19316651" y="474980"/>
                    <a:pt x="19277536" y="500888"/>
                    <a:pt x="19251373" y="526796"/>
                  </a:cubicBezTo>
                  <a:cubicBezTo>
                    <a:pt x="19186222" y="587248"/>
                    <a:pt x="19081828" y="604520"/>
                    <a:pt x="18990641" y="621919"/>
                  </a:cubicBezTo>
                  <a:cubicBezTo>
                    <a:pt x="18873294" y="639191"/>
                    <a:pt x="18755946" y="647827"/>
                    <a:pt x="18638598" y="656463"/>
                  </a:cubicBezTo>
                  <a:cubicBezTo>
                    <a:pt x="18625516" y="656463"/>
                    <a:pt x="18612564" y="682371"/>
                    <a:pt x="18586401" y="691007"/>
                  </a:cubicBezTo>
                  <a:cubicBezTo>
                    <a:pt x="18573320" y="691007"/>
                    <a:pt x="18560365" y="682371"/>
                    <a:pt x="18560365" y="682371"/>
                  </a:cubicBezTo>
                  <a:cubicBezTo>
                    <a:pt x="18495214" y="734187"/>
                    <a:pt x="18456099" y="812038"/>
                    <a:pt x="18325670" y="803402"/>
                  </a:cubicBezTo>
                  <a:lnTo>
                    <a:pt x="18312588" y="803402"/>
                  </a:lnTo>
                  <a:cubicBezTo>
                    <a:pt x="18208322" y="846582"/>
                    <a:pt x="18103928" y="829310"/>
                    <a:pt x="18012741" y="812038"/>
                  </a:cubicBezTo>
                  <a:cubicBezTo>
                    <a:pt x="17986707" y="812038"/>
                    <a:pt x="17947590" y="794766"/>
                    <a:pt x="17934511" y="777494"/>
                  </a:cubicBezTo>
                  <a:cubicBezTo>
                    <a:pt x="17895394" y="725678"/>
                    <a:pt x="17791127" y="708406"/>
                    <a:pt x="17712895" y="725678"/>
                  </a:cubicBezTo>
                  <a:cubicBezTo>
                    <a:pt x="17647744" y="742950"/>
                    <a:pt x="17582465" y="751586"/>
                    <a:pt x="17517314" y="768858"/>
                  </a:cubicBezTo>
                  <a:cubicBezTo>
                    <a:pt x="17413048" y="786130"/>
                    <a:pt x="17321736" y="794766"/>
                    <a:pt x="17217468" y="760222"/>
                  </a:cubicBezTo>
                  <a:cubicBezTo>
                    <a:pt x="17113201" y="725678"/>
                    <a:pt x="17034969" y="751586"/>
                    <a:pt x="16982772" y="829310"/>
                  </a:cubicBezTo>
                  <a:cubicBezTo>
                    <a:pt x="16943656" y="881126"/>
                    <a:pt x="16839388" y="889762"/>
                    <a:pt x="16774112" y="846582"/>
                  </a:cubicBezTo>
                  <a:cubicBezTo>
                    <a:pt x="16734995" y="820674"/>
                    <a:pt x="16708961" y="829310"/>
                    <a:pt x="16669844" y="846582"/>
                  </a:cubicBezTo>
                  <a:lnTo>
                    <a:pt x="16591613" y="898398"/>
                  </a:lnTo>
                  <a:cubicBezTo>
                    <a:pt x="16578531" y="907034"/>
                    <a:pt x="16552496" y="907034"/>
                    <a:pt x="16539414" y="907034"/>
                  </a:cubicBezTo>
                  <a:lnTo>
                    <a:pt x="16461183" y="907034"/>
                  </a:lnTo>
                  <a:cubicBezTo>
                    <a:pt x="16408987" y="907034"/>
                    <a:pt x="16356915" y="898398"/>
                    <a:pt x="16304719" y="889762"/>
                  </a:cubicBezTo>
                  <a:cubicBezTo>
                    <a:pt x="16239568" y="881126"/>
                    <a:pt x="16187371" y="855218"/>
                    <a:pt x="16122220" y="846582"/>
                  </a:cubicBezTo>
                  <a:cubicBezTo>
                    <a:pt x="16017953" y="837946"/>
                    <a:pt x="15991790" y="777494"/>
                    <a:pt x="15952675" y="734187"/>
                  </a:cubicBezTo>
                  <a:cubicBezTo>
                    <a:pt x="15926639" y="708279"/>
                    <a:pt x="15874443" y="673735"/>
                    <a:pt x="15822246" y="682371"/>
                  </a:cubicBezTo>
                  <a:cubicBezTo>
                    <a:pt x="15770049" y="699643"/>
                    <a:pt x="15717979" y="682371"/>
                    <a:pt x="15678864" y="673735"/>
                  </a:cubicBezTo>
                  <a:cubicBezTo>
                    <a:pt x="15665782" y="673735"/>
                    <a:pt x="15639747" y="665099"/>
                    <a:pt x="15626665" y="665099"/>
                  </a:cubicBezTo>
                  <a:cubicBezTo>
                    <a:pt x="15535353" y="647827"/>
                    <a:pt x="15470202" y="682371"/>
                    <a:pt x="15405051" y="725551"/>
                  </a:cubicBezTo>
                  <a:lnTo>
                    <a:pt x="15352854" y="760095"/>
                  </a:lnTo>
                  <a:cubicBezTo>
                    <a:pt x="15339773" y="768731"/>
                    <a:pt x="15339773" y="786003"/>
                    <a:pt x="15326819" y="794639"/>
                  </a:cubicBezTo>
                  <a:cubicBezTo>
                    <a:pt x="15248588" y="837819"/>
                    <a:pt x="15170355" y="820547"/>
                    <a:pt x="15079041" y="794639"/>
                  </a:cubicBezTo>
                  <a:cubicBezTo>
                    <a:pt x="15000811" y="768731"/>
                    <a:pt x="14909497" y="794639"/>
                    <a:pt x="14883463" y="846455"/>
                  </a:cubicBezTo>
                  <a:cubicBezTo>
                    <a:pt x="14870381" y="880999"/>
                    <a:pt x="14857427" y="906907"/>
                    <a:pt x="14792149" y="924179"/>
                  </a:cubicBezTo>
                  <a:cubicBezTo>
                    <a:pt x="14726998" y="950087"/>
                    <a:pt x="14648765" y="967359"/>
                    <a:pt x="14635686" y="1027938"/>
                  </a:cubicBezTo>
                  <a:cubicBezTo>
                    <a:pt x="14635686" y="1036574"/>
                    <a:pt x="14622604" y="1045210"/>
                    <a:pt x="14609650" y="1045210"/>
                  </a:cubicBezTo>
                  <a:cubicBezTo>
                    <a:pt x="14570534" y="1053846"/>
                    <a:pt x="14544499" y="1062482"/>
                    <a:pt x="14505383" y="1071118"/>
                  </a:cubicBezTo>
                  <a:lnTo>
                    <a:pt x="14388036" y="1071118"/>
                  </a:lnTo>
                  <a:cubicBezTo>
                    <a:pt x="14309803" y="1062482"/>
                    <a:pt x="14231571" y="1045210"/>
                    <a:pt x="14153338" y="1036574"/>
                  </a:cubicBezTo>
                  <a:cubicBezTo>
                    <a:pt x="14062026" y="1027938"/>
                    <a:pt x="13983794" y="1062482"/>
                    <a:pt x="13892608" y="1071118"/>
                  </a:cubicBezTo>
                  <a:lnTo>
                    <a:pt x="13879527" y="1079754"/>
                  </a:lnTo>
                  <a:cubicBezTo>
                    <a:pt x="13853491" y="1105662"/>
                    <a:pt x="13814376" y="1097026"/>
                    <a:pt x="13788213" y="1079754"/>
                  </a:cubicBezTo>
                  <a:cubicBezTo>
                    <a:pt x="13736016" y="1045210"/>
                    <a:pt x="13644831" y="1036574"/>
                    <a:pt x="13579553" y="1053846"/>
                  </a:cubicBezTo>
                  <a:cubicBezTo>
                    <a:pt x="13501321" y="1079754"/>
                    <a:pt x="13423088" y="1097026"/>
                    <a:pt x="13344857" y="1114298"/>
                  </a:cubicBezTo>
                  <a:cubicBezTo>
                    <a:pt x="13318822" y="1114298"/>
                    <a:pt x="13292661" y="1105662"/>
                    <a:pt x="13279706" y="1105662"/>
                  </a:cubicBezTo>
                  <a:cubicBezTo>
                    <a:pt x="13253671" y="1105662"/>
                    <a:pt x="13214555" y="1097026"/>
                    <a:pt x="13201474" y="1105662"/>
                  </a:cubicBezTo>
                  <a:cubicBezTo>
                    <a:pt x="13097207" y="1157478"/>
                    <a:pt x="12992813" y="1140206"/>
                    <a:pt x="12901500" y="1105662"/>
                  </a:cubicBezTo>
                  <a:cubicBezTo>
                    <a:pt x="12849303" y="1088390"/>
                    <a:pt x="12771071" y="1071118"/>
                    <a:pt x="12745036" y="1019175"/>
                  </a:cubicBezTo>
                  <a:cubicBezTo>
                    <a:pt x="12731955" y="984631"/>
                    <a:pt x="12679885" y="950087"/>
                    <a:pt x="12640769" y="924052"/>
                  </a:cubicBezTo>
                  <a:cubicBezTo>
                    <a:pt x="12575618" y="880872"/>
                    <a:pt x="12510340" y="820293"/>
                    <a:pt x="12392992" y="820293"/>
                  </a:cubicBezTo>
                  <a:cubicBezTo>
                    <a:pt x="12366957" y="820293"/>
                    <a:pt x="12340795" y="785749"/>
                    <a:pt x="12327841" y="794385"/>
                  </a:cubicBezTo>
                  <a:cubicBezTo>
                    <a:pt x="12275644" y="803021"/>
                    <a:pt x="12275644" y="785749"/>
                    <a:pt x="12249609" y="768477"/>
                  </a:cubicBezTo>
                  <a:cubicBezTo>
                    <a:pt x="12223574" y="751205"/>
                    <a:pt x="12184458" y="733933"/>
                    <a:pt x="12158296" y="708025"/>
                  </a:cubicBezTo>
                  <a:cubicBezTo>
                    <a:pt x="12119180" y="673481"/>
                    <a:pt x="12080064" y="630301"/>
                    <a:pt x="12040948" y="595630"/>
                  </a:cubicBezTo>
                  <a:cubicBezTo>
                    <a:pt x="12001832" y="560959"/>
                    <a:pt x="11975797" y="517906"/>
                    <a:pt x="11936681" y="483235"/>
                  </a:cubicBezTo>
                  <a:cubicBezTo>
                    <a:pt x="11923600" y="474599"/>
                    <a:pt x="11884484" y="465963"/>
                    <a:pt x="11871530" y="474599"/>
                  </a:cubicBezTo>
                  <a:lnTo>
                    <a:pt x="11715066" y="526415"/>
                  </a:lnTo>
                  <a:cubicBezTo>
                    <a:pt x="11689031" y="535051"/>
                    <a:pt x="11675950" y="552323"/>
                    <a:pt x="11662869" y="569595"/>
                  </a:cubicBezTo>
                  <a:lnTo>
                    <a:pt x="11649788" y="560959"/>
                  </a:lnTo>
                  <a:cubicBezTo>
                    <a:pt x="11662869" y="535051"/>
                    <a:pt x="11675823" y="509143"/>
                    <a:pt x="11688904" y="500507"/>
                  </a:cubicBezTo>
                  <a:lnTo>
                    <a:pt x="11532440" y="474599"/>
                  </a:lnTo>
                  <a:cubicBezTo>
                    <a:pt x="11493324" y="465963"/>
                    <a:pt x="11428173" y="465963"/>
                    <a:pt x="11402011" y="465963"/>
                  </a:cubicBezTo>
                  <a:lnTo>
                    <a:pt x="11192715" y="465963"/>
                  </a:lnTo>
                  <a:cubicBezTo>
                    <a:pt x="11114483" y="465963"/>
                    <a:pt x="11049332" y="457327"/>
                    <a:pt x="10971100" y="465963"/>
                  </a:cubicBezTo>
                  <a:cubicBezTo>
                    <a:pt x="10918903" y="474599"/>
                    <a:pt x="10879787" y="457327"/>
                    <a:pt x="10840671" y="440055"/>
                  </a:cubicBezTo>
                  <a:cubicBezTo>
                    <a:pt x="10736404" y="388239"/>
                    <a:pt x="10632010" y="327660"/>
                    <a:pt x="10488627" y="353568"/>
                  </a:cubicBezTo>
                  <a:cubicBezTo>
                    <a:pt x="10475546" y="353568"/>
                    <a:pt x="10449511" y="344932"/>
                    <a:pt x="10436430" y="336296"/>
                  </a:cubicBezTo>
                  <a:cubicBezTo>
                    <a:pt x="10397314" y="327660"/>
                    <a:pt x="10371279" y="310388"/>
                    <a:pt x="10319082" y="293116"/>
                  </a:cubicBezTo>
                  <a:cubicBezTo>
                    <a:pt x="10319082" y="319024"/>
                    <a:pt x="10319082" y="327660"/>
                    <a:pt x="10332163" y="344932"/>
                  </a:cubicBezTo>
                  <a:cubicBezTo>
                    <a:pt x="10306128" y="362204"/>
                    <a:pt x="10293047" y="353568"/>
                    <a:pt x="10279966" y="344932"/>
                  </a:cubicBezTo>
                  <a:cubicBezTo>
                    <a:pt x="10266885" y="353568"/>
                    <a:pt x="10253931" y="370840"/>
                    <a:pt x="10240850" y="370840"/>
                  </a:cubicBezTo>
                  <a:cubicBezTo>
                    <a:pt x="10175699" y="388112"/>
                    <a:pt x="10110421" y="396748"/>
                    <a:pt x="10045270" y="414020"/>
                  </a:cubicBezTo>
                  <a:cubicBezTo>
                    <a:pt x="10019235" y="422656"/>
                    <a:pt x="9993073" y="431292"/>
                    <a:pt x="9980119" y="439928"/>
                  </a:cubicBezTo>
                  <a:cubicBezTo>
                    <a:pt x="9927922" y="465836"/>
                    <a:pt x="9888806" y="509016"/>
                    <a:pt x="9797620" y="500380"/>
                  </a:cubicBezTo>
                  <a:cubicBezTo>
                    <a:pt x="9784539" y="500380"/>
                    <a:pt x="9758504" y="517652"/>
                    <a:pt x="9732469" y="517652"/>
                  </a:cubicBezTo>
                  <a:cubicBezTo>
                    <a:pt x="9706434" y="526288"/>
                    <a:pt x="9667318" y="526288"/>
                    <a:pt x="9641156" y="534924"/>
                  </a:cubicBezTo>
                  <a:lnTo>
                    <a:pt x="9615121" y="534924"/>
                  </a:lnTo>
                  <a:cubicBezTo>
                    <a:pt x="9536889" y="552196"/>
                    <a:pt x="9471738" y="569468"/>
                    <a:pt x="9393506" y="578104"/>
                  </a:cubicBezTo>
                  <a:lnTo>
                    <a:pt x="9341309" y="578104"/>
                  </a:lnTo>
                  <a:cubicBezTo>
                    <a:pt x="9276158" y="578104"/>
                    <a:pt x="9223961" y="569468"/>
                    <a:pt x="9158810" y="569468"/>
                  </a:cubicBezTo>
                  <a:cubicBezTo>
                    <a:pt x="9093659" y="569468"/>
                    <a:pt x="9028381" y="586740"/>
                    <a:pt x="8963229" y="586740"/>
                  </a:cubicBezTo>
                  <a:cubicBezTo>
                    <a:pt x="8884998" y="586740"/>
                    <a:pt x="8793685" y="586740"/>
                    <a:pt x="8728534" y="552196"/>
                  </a:cubicBezTo>
                  <a:cubicBezTo>
                    <a:pt x="8715452" y="543560"/>
                    <a:pt x="8676337" y="543560"/>
                    <a:pt x="8650302" y="552196"/>
                  </a:cubicBezTo>
                  <a:cubicBezTo>
                    <a:pt x="8558989" y="560832"/>
                    <a:pt x="8467802" y="569468"/>
                    <a:pt x="8389571" y="586740"/>
                  </a:cubicBezTo>
                  <a:cubicBezTo>
                    <a:pt x="8311339" y="604012"/>
                    <a:pt x="8272223" y="586740"/>
                    <a:pt x="8246188" y="543560"/>
                  </a:cubicBezTo>
                  <a:cubicBezTo>
                    <a:pt x="8233107" y="526288"/>
                    <a:pt x="8207072" y="509016"/>
                    <a:pt x="8181037" y="491744"/>
                  </a:cubicBezTo>
                  <a:cubicBezTo>
                    <a:pt x="8141921" y="474472"/>
                    <a:pt x="8102804" y="448564"/>
                    <a:pt x="8063689" y="448564"/>
                  </a:cubicBezTo>
                  <a:cubicBezTo>
                    <a:pt x="7972376" y="448564"/>
                    <a:pt x="7920306" y="414020"/>
                    <a:pt x="7855027" y="388112"/>
                  </a:cubicBezTo>
                  <a:cubicBezTo>
                    <a:pt x="7750761" y="344932"/>
                    <a:pt x="7659448" y="292989"/>
                    <a:pt x="7529019" y="301625"/>
                  </a:cubicBezTo>
                  <a:lnTo>
                    <a:pt x="7529019" y="258445"/>
                  </a:lnTo>
                  <a:cubicBezTo>
                    <a:pt x="7555053" y="258445"/>
                    <a:pt x="7581215" y="258445"/>
                    <a:pt x="7607251" y="249809"/>
                  </a:cubicBezTo>
                  <a:cubicBezTo>
                    <a:pt x="7568135" y="232537"/>
                    <a:pt x="7568135" y="206629"/>
                    <a:pt x="7542100" y="189357"/>
                  </a:cubicBezTo>
                  <a:cubicBezTo>
                    <a:pt x="7489902" y="163449"/>
                    <a:pt x="7437833" y="154813"/>
                    <a:pt x="7385636" y="137541"/>
                  </a:cubicBezTo>
                  <a:cubicBezTo>
                    <a:pt x="7346520" y="128905"/>
                    <a:pt x="7294323" y="128905"/>
                    <a:pt x="7320485" y="172085"/>
                  </a:cubicBezTo>
                  <a:cubicBezTo>
                    <a:pt x="7255334" y="180721"/>
                    <a:pt x="7203137" y="180721"/>
                    <a:pt x="7177102" y="197993"/>
                  </a:cubicBezTo>
                  <a:cubicBezTo>
                    <a:pt x="7124904" y="223901"/>
                    <a:pt x="7072835" y="206629"/>
                    <a:pt x="7033719" y="189357"/>
                  </a:cubicBezTo>
                  <a:cubicBezTo>
                    <a:pt x="7007684" y="180721"/>
                    <a:pt x="6981522" y="172085"/>
                    <a:pt x="6955487" y="180721"/>
                  </a:cubicBezTo>
                  <a:cubicBezTo>
                    <a:pt x="6799023" y="232537"/>
                    <a:pt x="6642559" y="206629"/>
                    <a:pt x="6486095" y="206629"/>
                  </a:cubicBezTo>
                  <a:cubicBezTo>
                    <a:pt x="6460060" y="206629"/>
                    <a:pt x="6433898" y="197993"/>
                    <a:pt x="6394782" y="197993"/>
                  </a:cubicBezTo>
                  <a:cubicBezTo>
                    <a:pt x="6342585" y="189357"/>
                    <a:pt x="6303469" y="172085"/>
                    <a:pt x="6251399" y="163449"/>
                  </a:cubicBezTo>
                  <a:cubicBezTo>
                    <a:pt x="6199329" y="154813"/>
                    <a:pt x="6134051" y="146177"/>
                    <a:pt x="6081854" y="137541"/>
                  </a:cubicBezTo>
                  <a:lnTo>
                    <a:pt x="6042738" y="137541"/>
                  </a:lnTo>
                  <a:cubicBezTo>
                    <a:pt x="5951425" y="137541"/>
                    <a:pt x="5860239" y="146177"/>
                    <a:pt x="5782007" y="146177"/>
                  </a:cubicBezTo>
                  <a:cubicBezTo>
                    <a:pt x="5716856" y="146177"/>
                    <a:pt x="5651578" y="128905"/>
                    <a:pt x="5573346" y="120269"/>
                  </a:cubicBezTo>
                  <a:cubicBezTo>
                    <a:pt x="5560265" y="51181"/>
                    <a:pt x="5455998" y="68453"/>
                    <a:pt x="5390847" y="33782"/>
                  </a:cubicBezTo>
                  <a:cubicBezTo>
                    <a:pt x="5377766" y="25146"/>
                    <a:pt x="5351731" y="33782"/>
                    <a:pt x="5338650" y="33782"/>
                  </a:cubicBezTo>
                  <a:cubicBezTo>
                    <a:pt x="5260418" y="25146"/>
                    <a:pt x="5208221" y="51054"/>
                    <a:pt x="5182186" y="94234"/>
                  </a:cubicBezTo>
                  <a:cubicBezTo>
                    <a:pt x="5143070" y="137414"/>
                    <a:pt x="5038803" y="154686"/>
                    <a:pt x="5077919" y="223901"/>
                  </a:cubicBezTo>
                  <a:cubicBezTo>
                    <a:pt x="5091000" y="232537"/>
                    <a:pt x="5117035" y="241173"/>
                    <a:pt x="5130116" y="258445"/>
                  </a:cubicBezTo>
                  <a:cubicBezTo>
                    <a:pt x="5130116" y="284353"/>
                    <a:pt x="5117035" y="301625"/>
                    <a:pt x="5077919" y="292989"/>
                  </a:cubicBezTo>
                  <a:cubicBezTo>
                    <a:pt x="5064838" y="292989"/>
                    <a:pt x="5051884" y="310261"/>
                    <a:pt x="5038803" y="318897"/>
                  </a:cubicBezTo>
                  <a:cubicBezTo>
                    <a:pt x="5025722" y="327533"/>
                    <a:pt x="5025722" y="344805"/>
                    <a:pt x="5012768" y="344805"/>
                  </a:cubicBezTo>
                  <a:cubicBezTo>
                    <a:pt x="4934536" y="362077"/>
                    <a:pt x="4882339" y="405257"/>
                    <a:pt x="4791153" y="396621"/>
                  </a:cubicBezTo>
                  <a:lnTo>
                    <a:pt x="4765118" y="396621"/>
                  </a:lnTo>
                  <a:cubicBezTo>
                    <a:pt x="4686886" y="439801"/>
                    <a:pt x="4608654" y="431165"/>
                    <a:pt x="4517341" y="422529"/>
                  </a:cubicBezTo>
                  <a:cubicBezTo>
                    <a:pt x="4478225" y="413893"/>
                    <a:pt x="4426028" y="422529"/>
                    <a:pt x="4373958" y="422529"/>
                  </a:cubicBezTo>
                  <a:cubicBezTo>
                    <a:pt x="4334842" y="422529"/>
                    <a:pt x="4295726" y="422529"/>
                    <a:pt x="4256610" y="405257"/>
                  </a:cubicBezTo>
                  <a:cubicBezTo>
                    <a:pt x="4204413" y="387985"/>
                    <a:pt x="4152343" y="362077"/>
                    <a:pt x="4100146" y="344805"/>
                  </a:cubicBezTo>
                  <a:cubicBezTo>
                    <a:pt x="4047949" y="327533"/>
                    <a:pt x="3982798" y="327533"/>
                    <a:pt x="3982798" y="267081"/>
                  </a:cubicBezTo>
                  <a:cubicBezTo>
                    <a:pt x="3982798" y="258445"/>
                    <a:pt x="3956763" y="249809"/>
                    <a:pt x="3956763" y="241173"/>
                  </a:cubicBezTo>
                  <a:cubicBezTo>
                    <a:pt x="3865450" y="292989"/>
                    <a:pt x="3787218" y="336296"/>
                    <a:pt x="3708986" y="379476"/>
                  </a:cubicBezTo>
                  <a:cubicBezTo>
                    <a:pt x="3669870" y="405384"/>
                    <a:pt x="3617673" y="439928"/>
                    <a:pt x="3643835" y="483235"/>
                  </a:cubicBezTo>
                  <a:cubicBezTo>
                    <a:pt x="3643835" y="491871"/>
                    <a:pt x="3630754" y="500507"/>
                    <a:pt x="3630754" y="509143"/>
                  </a:cubicBezTo>
                  <a:cubicBezTo>
                    <a:pt x="3617673" y="526415"/>
                    <a:pt x="3604719" y="543687"/>
                    <a:pt x="3578557" y="552323"/>
                  </a:cubicBezTo>
                  <a:cubicBezTo>
                    <a:pt x="3552522" y="578231"/>
                    <a:pt x="3526360" y="604139"/>
                    <a:pt x="3500325" y="638810"/>
                  </a:cubicBezTo>
                  <a:lnTo>
                    <a:pt x="3422093" y="690626"/>
                  </a:lnTo>
                  <a:cubicBezTo>
                    <a:pt x="3396058" y="716534"/>
                    <a:pt x="3369896" y="742442"/>
                    <a:pt x="3330780" y="759714"/>
                  </a:cubicBezTo>
                  <a:cubicBezTo>
                    <a:pt x="3239467" y="811530"/>
                    <a:pt x="3148281" y="863473"/>
                    <a:pt x="3043887" y="915289"/>
                  </a:cubicBezTo>
                  <a:cubicBezTo>
                    <a:pt x="2991690" y="949833"/>
                    <a:pt x="2926539" y="975741"/>
                    <a:pt x="2874342" y="1010412"/>
                  </a:cubicBezTo>
                  <a:cubicBezTo>
                    <a:pt x="2783029" y="1062228"/>
                    <a:pt x="2678762" y="1105535"/>
                    <a:pt x="2626565" y="1183259"/>
                  </a:cubicBezTo>
                  <a:cubicBezTo>
                    <a:pt x="2626565" y="1191895"/>
                    <a:pt x="2600530" y="1200531"/>
                    <a:pt x="2587449" y="1209167"/>
                  </a:cubicBezTo>
                  <a:cubicBezTo>
                    <a:pt x="2522298" y="1243711"/>
                    <a:pt x="2417904" y="1243711"/>
                    <a:pt x="2417904" y="1312926"/>
                  </a:cubicBezTo>
                  <a:cubicBezTo>
                    <a:pt x="2313637" y="1312926"/>
                    <a:pt x="2261440" y="1364742"/>
                    <a:pt x="2209243" y="1408049"/>
                  </a:cubicBezTo>
                  <a:cubicBezTo>
                    <a:pt x="2170127" y="1442593"/>
                    <a:pt x="2131011" y="1485773"/>
                    <a:pt x="2078814" y="1511808"/>
                  </a:cubicBezTo>
                  <a:cubicBezTo>
                    <a:pt x="2026617" y="1529080"/>
                    <a:pt x="1961466" y="1520444"/>
                    <a:pt x="1896315" y="1520444"/>
                  </a:cubicBezTo>
                  <a:cubicBezTo>
                    <a:pt x="1870280" y="1520444"/>
                    <a:pt x="1844118" y="1520444"/>
                    <a:pt x="1844118" y="1529080"/>
                  </a:cubicBezTo>
                  <a:cubicBezTo>
                    <a:pt x="1791921" y="1563624"/>
                    <a:pt x="1726770" y="1589532"/>
                    <a:pt x="1687654" y="1632839"/>
                  </a:cubicBezTo>
                  <a:cubicBezTo>
                    <a:pt x="1648538" y="1676146"/>
                    <a:pt x="1609422" y="1701927"/>
                    <a:pt x="1544271" y="1710563"/>
                  </a:cubicBezTo>
                  <a:cubicBezTo>
                    <a:pt x="1479120" y="1719199"/>
                    <a:pt x="1413842" y="1762379"/>
                    <a:pt x="1322656" y="1736471"/>
                  </a:cubicBezTo>
                  <a:cubicBezTo>
                    <a:pt x="1244424" y="1719199"/>
                    <a:pt x="1153111" y="1736471"/>
                    <a:pt x="1101041" y="1701927"/>
                  </a:cubicBezTo>
                  <a:cubicBezTo>
                    <a:pt x="996774" y="1710563"/>
                    <a:pt x="918542" y="1727835"/>
                    <a:pt x="827229" y="1736471"/>
                  </a:cubicBezTo>
                  <a:cubicBezTo>
                    <a:pt x="722962" y="1753743"/>
                    <a:pt x="605614" y="1745107"/>
                    <a:pt x="514301" y="1796923"/>
                  </a:cubicBezTo>
                  <a:cubicBezTo>
                    <a:pt x="436069" y="1840103"/>
                    <a:pt x="370918" y="1883410"/>
                    <a:pt x="253570" y="1874647"/>
                  </a:cubicBezTo>
                  <a:cubicBezTo>
                    <a:pt x="266651" y="1926463"/>
                    <a:pt x="279605" y="1969770"/>
                    <a:pt x="292686" y="2021586"/>
                  </a:cubicBezTo>
                  <a:cubicBezTo>
                    <a:pt x="318721" y="2159889"/>
                    <a:pt x="344883" y="2298192"/>
                    <a:pt x="357837" y="2436495"/>
                  </a:cubicBezTo>
                  <a:cubicBezTo>
                    <a:pt x="396953" y="2609342"/>
                    <a:pt x="410034" y="2773553"/>
                    <a:pt x="383872" y="2937764"/>
                  </a:cubicBezTo>
                  <a:cubicBezTo>
                    <a:pt x="357837" y="3171063"/>
                    <a:pt x="240489" y="11156950"/>
                    <a:pt x="123141" y="11373104"/>
                  </a:cubicBezTo>
                  <a:lnTo>
                    <a:pt x="4777" y="11555222"/>
                  </a:lnTo>
                  <a:cubicBezTo>
                    <a:pt x="-12495" y="11598402"/>
                    <a:pt x="17858" y="11624310"/>
                    <a:pt x="83009" y="11632946"/>
                  </a:cubicBezTo>
                  <a:cubicBezTo>
                    <a:pt x="161241" y="11641582"/>
                    <a:pt x="187276" y="11676126"/>
                    <a:pt x="213438" y="11719433"/>
                  </a:cubicBezTo>
                  <a:cubicBezTo>
                    <a:pt x="239473" y="11788521"/>
                    <a:pt x="200357" y="11857736"/>
                    <a:pt x="252554" y="11926824"/>
                  </a:cubicBezTo>
                  <a:cubicBezTo>
                    <a:pt x="278589" y="11961368"/>
                    <a:pt x="252554" y="12021947"/>
                    <a:pt x="239473" y="12073763"/>
                  </a:cubicBezTo>
                  <a:cubicBezTo>
                    <a:pt x="226392" y="12142851"/>
                    <a:pt x="252554" y="12212065"/>
                    <a:pt x="291670" y="12272518"/>
                  </a:cubicBezTo>
                  <a:cubicBezTo>
                    <a:pt x="382983" y="12376277"/>
                    <a:pt x="395937" y="12497181"/>
                    <a:pt x="395937" y="12609576"/>
                  </a:cubicBezTo>
                  <a:cubicBezTo>
                    <a:pt x="395937" y="12635484"/>
                    <a:pt x="409018" y="12661392"/>
                    <a:pt x="421972" y="12678664"/>
                  </a:cubicBezTo>
                  <a:cubicBezTo>
                    <a:pt x="448007" y="12695936"/>
                    <a:pt x="500204" y="12713208"/>
                    <a:pt x="552401" y="12721844"/>
                  </a:cubicBezTo>
                  <a:lnTo>
                    <a:pt x="865329" y="12825603"/>
                  </a:lnTo>
                  <a:cubicBezTo>
                    <a:pt x="1008712" y="12877419"/>
                    <a:pt x="1126060" y="12868783"/>
                    <a:pt x="1256489" y="12808331"/>
                  </a:cubicBezTo>
                  <a:cubicBezTo>
                    <a:pt x="1269570" y="12799695"/>
                    <a:pt x="1308686" y="12791059"/>
                    <a:pt x="1321640" y="12791059"/>
                  </a:cubicBezTo>
                  <a:cubicBezTo>
                    <a:pt x="1412953" y="12799695"/>
                    <a:pt x="1504139" y="12799695"/>
                    <a:pt x="1582371" y="12851511"/>
                  </a:cubicBezTo>
                  <a:cubicBezTo>
                    <a:pt x="1673684" y="12903327"/>
                    <a:pt x="1803986" y="12937998"/>
                    <a:pt x="1908380" y="12981178"/>
                  </a:cubicBezTo>
                  <a:cubicBezTo>
                    <a:pt x="1973531" y="13007085"/>
                    <a:pt x="2051763" y="13041630"/>
                    <a:pt x="2090879" y="13076301"/>
                  </a:cubicBezTo>
                  <a:cubicBezTo>
                    <a:pt x="2116914" y="13093573"/>
                    <a:pt x="2143076" y="13110845"/>
                    <a:pt x="2169111" y="13119481"/>
                  </a:cubicBezTo>
                  <a:cubicBezTo>
                    <a:pt x="2312494" y="13154025"/>
                    <a:pt x="2390726" y="13240511"/>
                    <a:pt x="2482039" y="13309600"/>
                  </a:cubicBezTo>
                  <a:cubicBezTo>
                    <a:pt x="2560271" y="13370052"/>
                    <a:pt x="2664538" y="13404723"/>
                    <a:pt x="2781886" y="13413360"/>
                  </a:cubicBezTo>
                  <a:cubicBezTo>
                    <a:pt x="2912315" y="13430631"/>
                    <a:pt x="3042617" y="13439267"/>
                    <a:pt x="3173046" y="13456538"/>
                  </a:cubicBezTo>
                  <a:cubicBezTo>
                    <a:pt x="3225243" y="13465175"/>
                    <a:pt x="3290394" y="13473810"/>
                    <a:pt x="3342591" y="13491083"/>
                  </a:cubicBezTo>
                  <a:cubicBezTo>
                    <a:pt x="3407742" y="13508355"/>
                    <a:pt x="3473020" y="13508355"/>
                    <a:pt x="3525090" y="13534262"/>
                  </a:cubicBezTo>
                  <a:cubicBezTo>
                    <a:pt x="3603322" y="13577443"/>
                    <a:pt x="3681554" y="13603351"/>
                    <a:pt x="3785821" y="13586079"/>
                  </a:cubicBezTo>
                  <a:cubicBezTo>
                    <a:pt x="3824937" y="13577443"/>
                    <a:pt x="3877134" y="13594714"/>
                    <a:pt x="3916250" y="13603351"/>
                  </a:cubicBezTo>
                  <a:cubicBezTo>
                    <a:pt x="3929331" y="13603351"/>
                    <a:pt x="3942285" y="13611986"/>
                    <a:pt x="3955366" y="13611986"/>
                  </a:cubicBezTo>
                  <a:cubicBezTo>
                    <a:pt x="4098749" y="13620623"/>
                    <a:pt x="4229178" y="13603351"/>
                    <a:pt x="4359607" y="13586079"/>
                  </a:cubicBezTo>
                  <a:cubicBezTo>
                    <a:pt x="4411804" y="13577443"/>
                    <a:pt x="4463874" y="13568807"/>
                    <a:pt x="4516071" y="13551536"/>
                  </a:cubicBezTo>
                  <a:cubicBezTo>
                    <a:pt x="4659454" y="13508355"/>
                    <a:pt x="4802964" y="13465048"/>
                    <a:pt x="4933393" y="13413232"/>
                  </a:cubicBezTo>
                  <a:cubicBezTo>
                    <a:pt x="5024706" y="13378687"/>
                    <a:pt x="5115892" y="13344144"/>
                    <a:pt x="5220286" y="13378687"/>
                  </a:cubicBezTo>
                  <a:lnTo>
                    <a:pt x="5272483" y="13378687"/>
                  </a:lnTo>
                  <a:cubicBezTo>
                    <a:pt x="5363796" y="13378687"/>
                    <a:pt x="5454982" y="13370052"/>
                    <a:pt x="5533214" y="13361415"/>
                  </a:cubicBezTo>
                  <a:cubicBezTo>
                    <a:pt x="5546295" y="13361415"/>
                    <a:pt x="5572330" y="13361415"/>
                    <a:pt x="5572330" y="13352780"/>
                  </a:cubicBezTo>
                  <a:cubicBezTo>
                    <a:pt x="5611446" y="13318235"/>
                    <a:pt x="5676597" y="13318235"/>
                    <a:pt x="5741875" y="13309600"/>
                  </a:cubicBezTo>
                  <a:cubicBezTo>
                    <a:pt x="5846142" y="13300963"/>
                    <a:pt x="5950536" y="13300963"/>
                    <a:pt x="6028768" y="13257785"/>
                  </a:cubicBezTo>
                  <a:cubicBezTo>
                    <a:pt x="6107000" y="13223239"/>
                    <a:pt x="6185232" y="13214604"/>
                    <a:pt x="6276545" y="13205968"/>
                  </a:cubicBezTo>
                  <a:cubicBezTo>
                    <a:pt x="6289626" y="13205968"/>
                    <a:pt x="6315661" y="13197332"/>
                    <a:pt x="6328742" y="13197332"/>
                  </a:cubicBezTo>
                  <a:cubicBezTo>
                    <a:pt x="6393893" y="13188696"/>
                    <a:pt x="6459171" y="13162787"/>
                    <a:pt x="6511241" y="13171424"/>
                  </a:cubicBezTo>
                  <a:cubicBezTo>
                    <a:pt x="6628589" y="13188696"/>
                    <a:pt x="6680786" y="13162787"/>
                    <a:pt x="6759018" y="13093700"/>
                  </a:cubicBezTo>
                  <a:cubicBezTo>
                    <a:pt x="6772099" y="13076428"/>
                    <a:pt x="6811215" y="13067792"/>
                    <a:pt x="6837250" y="13059156"/>
                  </a:cubicBezTo>
                  <a:cubicBezTo>
                    <a:pt x="6902401" y="13050520"/>
                    <a:pt x="6967679" y="13059156"/>
                    <a:pt x="7032830" y="13050520"/>
                  </a:cubicBezTo>
                  <a:cubicBezTo>
                    <a:pt x="7071946" y="13050520"/>
                    <a:pt x="7111062" y="13024611"/>
                    <a:pt x="7137097" y="13024611"/>
                  </a:cubicBezTo>
                  <a:cubicBezTo>
                    <a:pt x="7241364" y="13033248"/>
                    <a:pt x="7358712" y="13007339"/>
                    <a:pt x="7450025" y="13050520"/>
                  </a:cubicBezTo>
                  <a:cubicBezTo>
                    <a:pt x="7463106" y="13059156"/>
                    <a:pt x="7489141" y="13059156"/>
                    <a:pt x="7515176" y="13059156"/>
                  </a:cubicBezTo>
                  <a:cubicBezTo>
                    <a:pt x="7684721" y="13067792"/>
                    <a:pt x="7828104" y="13102335"/>
                    <a:pt x="7945452" y="13171551"/>
                  </a:cubicBezTo>
                  <a:cubicBezTo>
                    <a:pt x="7984568" y="13197460"/>
                    <a:pt x="8036765" y="13214731"/>
                    <a:pt x="8075881" y="13232003"/>
                  </a:cubicBezTo>
                  <a:cubicBezTo>
                    <a:pt x="8114997" y="13249275"/>
                    <a:pt x="8167194" y="13249275"/>
                    <a:pt x="8206310" y="13257910"/>
                  </a:cubicBezTo>
                  <a:cubicBezTo>
                    <a:pt x="8245426" y="13266547"/>
                    <a:pt x="8271461" y="13275183"/>
                    <a:pt x="8310577" y="13275183"/>
                  </a:cubicBezTo>
                  <a:cubicBezTo>
                    <a:pt x="8375728" y="13275183"/>
                    <a:pt x="8427925" y="13292455"/>
                    <a:pt x="8467041" y="13326999"/>
                  </a:cubicBezTo>
                  <a:cubicBezTo>
                    <a:pt x="8480122" y="13335636"/>
                    <a:pt x="8493076" y="13344271"/>
                    <a:pt x="8506157" y="13361543"/>
                  </a:cubicBezTo>
                  <a:cubicBezTo>
                    <a:pt x="8493076" y="13387451"/>
                    <a:pt x="8571308" y="13456665"/>
                    <a:pt x="8623505" y="13456665"/>
                  </a:cubicBezTo>
                  <a:cubicBezTo>
                    <a:pt x="8714818" y="13456665"/>
                    <a:pt x="8806004" y="13473937"/>
                    <a:pt x="8884236" y="13517118"/>
                  </a:cubicBezTo>
                  <a:cubicBezTo>
                    <a:pt x="8897317" y="13525754"/>
                    <a:pt x="8923352" y="13525754"/>
                    <a:pt x="8949387" y="13517118"/>
                  </a:cubicBezTo>
                  <a:cubicBezTo>
                    <a:pt x="8988503" y="13508482"/>
                    <a:pt x="9014538" y="13508482"/>
                    <a:pt x="9040700" y="13534389"/>
                  </a:cubicBezTo>
                  <a:cubicBezTo>
                    <a:pt x="9053781" y="13543026"/>
                    <a:pt x="9105851" y="13543026"/>
                    <a:pt x="9132013" y="13543026"/>
                  </a:cubicBezTo>
                  <a:cubicBezTo>
                    <a:pt x="9197164" y="13543026"/>
                    <a:pt x="9275396" y="13534389"/>
                    <a:pt x="9340674" y="13543026"/>
                  </a:cubicBezTo>
                  <a:cubicBezTo>
                    <a:pt x="9458022" y="13551661"/>
                    <a:pt x="9562289" y="13560298"/>
                    <a:pt x="9679764" y="13577570"/>
                  </a:cubicBezTo>
                  <a:cubicBezTo>
                    <a:pt x="9705799" y="13577570"/>
                    <a:pt x="9731961" y="13586206"/>
                    <a:pt x="9744915" y="13594842"/>
                  </a:cubicBezTo>
                  <a:cubicBezTo>
                    <a:pt x="9770950" y="13638022"/>
                    <a:pt x="9836228" y="13638022"/>
                    <a:pt x="9875344" y="13646658"/>
                  </a:cubicBezTo>
                  <a:cubicBezTo>
                    <a:pt x="9914460" y="13655294"/>
                    <a:pt x="9966657" y="13663930"/>
                    <a:pt x="9992692" y="13663930"/>
                  </a:cubicBezTo>
                  <a:cubicBezTo>
                    <a:pt x="10005773" y="13655294"/>
                    <a:pt x="10031808" y="13646658"/>
                    <a:pt x="10057843" y="13629385"/>
                  </a:cubicBezTo>
                  <a:cubicBezTo>
                    <a:pt x="10005646" y="13629385"/>
                    <a:pt x="9979611" y="13638022"/>
                    <a:pt x="9953576" y="13638022"/>
                  </a:cubicBezTo>
                  <a:cubicBezTo>
                    <a:pt x="10005773" y="13594842"/>
                    <a:pt x="10057843" y="13586206"/>
                    <a:pt x="10123121" y="13612113"/>
                  </a:cubicBezTo>
                  <a:cubicBezTo>
                    <a:pt x="10201353" y="13655294"/>
                    <a:pt x="10266504" y="13655294"/>
                    <a:pt x="10357817" y="13612113"/>
                  </a:cubicBezTo>
                  <a:lnTo>
                    <a:pt x="10436049" y="13586206"/>
                  </a:lnTo>
                  <a:lnTo>
                    <a:pt x="10436049" y="13543026"/>
                  </a:lnTo>
                  <a:cubicBezTo>
                    <a:pt x="10475165" y="13551661"/>
                    <a:pt x="10514281" y="13568935"/>
                    <a:pt x="10540316" y="13568935"/>
                  </a:cubicBezTo>
                  <a:cubicBezTo>
                    <a:pt x="10618548" y="13543026"/>
                    <a:pt x="10696780" y="13517118"/>
                    <a:pt x="10761931" y="13482447"/>
                  </a:cubicBezTo>
                  <a:cubicBezTo>
                    <a:pt x="10840163" y="13447903"/>
                    <a:pt x="10905314" y="13404723"/>
                    <a:pt x="10970592" y="13370052"/>
                  </a:cubicBezTo>
                  <a:cubicBezTo>
                    <a:pt x="10983673" y="13370052"/>
                    <a:pt x="10983673" y="13361415"/>
                    <a:pt x="10996627" y="13361415"/>
                  </a:cubicBezTo>
                  <a:cubicBezTo>
                    <a:pt x="11087940" y="13344144"/>
                    <a:pt x="11166172" y="13335508"/>
                    <a:pt x="11257358" y="13318235"/>
                  </a:cubicBezTo>
                  <a:cubicBezTo>
                    <a:pt x="11309555" y="13309600"/>
                    <a:pt x="11348671" y="13292328"/>
                    <a:pt x="11400741" y="13283692"/>
                  </a:cubicBezTo>
                  <a:cubicBezTo>
                    <a:pt x="11439857" y="13275056"/>
                    <a:pt x="11465892" y="13275056"/>
                    <a:pt x="11505008" y="13266420"/>
                  </a:cubicBezTo>
                  <a:lnTo>
                    <a:pt x="11635437" y="13266420"/>
                  </a:lnTo>
                  <a:cubicBezTo>
                    <a:pt x="11661472" y="13266420"/>
                    <a:pt x="11700588" y="13266420"/>
                    <a:pt x="11726750" y="13257785"/>
                  </a:cubicBezTo>
                  <a:cubicBezTo>
                    <a:pt x="11739831" y="13240511"/>
                    <a:pt x="11765866" y="13214604"/>
                    <a:pt x="11778947" y="13214604"/>
                  </a:cubicBezTo>
                  <a:cubicBezTo>
                    <a:pt x="11818063" y="13214604"/>
                    <a:pt x="11844098" y="13231876"/>
                    <a:pt x="11883214" y="13240511"/>
                  </a:cubicBezTo>
                  <a:cubicBezTo>
                    <a:pt x="11896295" y="13240511"/>
                    <a:pt x="11896295" y="13249148"/>
                    <a:pt x="11896295" y="13257785"/>
                  </a:cubicBezTo>
                  <a:cubicBezTo>
                    <a:pt x="11948492" y="13292328"/>
                    <a:pt x="11987608" y="13335508"/>
                    <a:pt x="12039678" y="13370179"/>
                  </a:cubicBezTo>
                  <a:cubicBezTo>
                    <a:pt x="12104829" y="13413360"/>
                    <a:pt x="12170107" y="13413360"/>
                    <a:pt x="12209223" y="13387451"/>
                  </a:cubicBezTo>
                  <a:cubicBezTo>
                    <a:pt x="12274374" y="13352907"/>
                    <a:pt x="12326571" y="13326999"/>
                    <a:pt x="12417884" y="13344271"/>
                  </a:cubicBezTo>
                  <a:cubicBezTo>
                    <a:pt x="12430965" y="13344271"/>
                    <a:pt x="12457000" y="13352907"/>
                    <a:pt x="12470081" y="13344271"/>
                  </a:cubicBezTo>
                  <a:cubicBezTo>
                    <a:pt x="12535232" y="13326999"/>
                    <a:pt x="12613464" y="13309727"/>
                    <a:pt x="12678742" y="13283819"/>
                  </a:cubicBezTo>
                  <a:cubicBezTo>
                    <a:pt x="12717858" y="13275183"/>
                    <a:pt x="12770055" y="13275183"/>
                    <a:pt x="12783009" y="13257910"/>
                  </a:cubicBezTo>
                  <a:cubicBezTo>
                    <a:pt x="12822125" y="13206095"/>
                    <a:pt x="12887276" y="13180186"/>
                    <a:pt x="12952554" y="13145515"/>
                  </a:cubicBezTo>
                  <a:cubicBezTo>
                    <a:pt x="12991670" y="13119608"/>
                    <a:pt x="13030787" y="13085063"/>
                    <a:pt x="13069902" y="13076428"/>
                  </a:cubicBezTo>
                  <a:cubicBezTo>
                    <a:pt x="13161216" y="13059156"/>
                    <a:pt x="13226365" y="13007339"/>
                    <a:pt x="13304598" y="12972669"/>
                  </a:cubicBezTo>
                  <a:cubicBezTo>
                    <a:pt x="13369749" y="12946761"/>
                    <a:pt x="13408866" y="12894945"/>
                    <a:pt x="13474143" y="12886182"/>
                  </a:cubicBezTo>
                  <a:cubicBezTo>
                    <a:pt x="13578411" y="12868910"/>
                    <a:pt x="13656641" y="12825730"/>
                    <a:pt x="13747955" y="12782423"/>
                  </a:cubicBezTo>
                  <a:cubicBezTo>
                    <a:pt x="13800152" y="12756515"/>
                    <a:pt x="13865303" y="12739243"/>
                    <a:pt x="13930454" y="12747879"/>
                  </a:cubicBezTo>
                  <a:cubicBezTo>
                    <a:pt x="13969570" y="12756515"/>
                    <a:pt x="14021766" y="12747879"/>
                    <a:pt x="14047802" y="12739243"/>
                  </a:cubicBezTo>
                  <a:cubicBezTo>
                    <a:pt x="14099999" y="12721971"/>
                    <a:pt x="14152069" y="12696063"/>
                    <a:pt x="14204265" y="12678790"/>
                  </a:cubicBezTo>
                  <a:cubicBezTo>
                    <a:pt x="14243382" y="12661519"/>
                    <a:pt x="14282498" y="12644247"/>
                    <a:pt x="14321615" y="12644247"/>
                  </a:cubicBezTo>
                  <a:cubicBezTo>
                    <a:pt x="14452043" y="12635611"/>
                    <a:pt x="14556311" y="12618339"/>
                    <a:pt x="14621462" y="12531852"/>
                  </a:cubicBezTo>
                  <a:cubicBezTo>
                    <a:pt x="14647496" y="12497308"/>
                    <a:pt x="14777925" y="12454128"/>
                    <a:pt x="14830122" y="12471400"/>
                  </a:cubicBezTo>
                  <a:cubicBezTo>
                    <a:pt x="14921436" y="12497308"/>
                    <a:pt x="14986587" y="12480036"/>
                    <a:pt x="15038783" y="12428220"/>
                  </a:cubicBezTo>
                  <a:cubicBezTo>
                    <a:pt x="15077899" y="12402312"/>
                    <a:pt x="15130096" y="12410948"/>
                    <a:pt x="15169213" y="12428220"/>
                  </a:cubicBezTo>
                  <a:cubicBezTo>
                    <a:pt x="15195247" y="12445492"/>
                    <a:pt x="15221409" y="12454128"/>
                    <a:pt x="15247444" y="12454128"/>
                  </a:cubicBezTo>
                  <a:cubicBezTo>
                    <a:pt x="15338757" y="12462764"/>
                    <a:pt x="15443024" y="12454128"/>
                    <a:pt x="15534338" y="12462764"/>
                  </a:cubicBezTo>
                  <a:cubicBezTo>
                    <a:pt x="15612569" y="12471400"/>
                    <a:pt x="15690801" y="12454128"/>
                    <a:pt x="15742998" y="12419584"/>
                  </a:cubicBezTo>
                  <a:cubicBezTo>
                    <a:pt x="15795195" y="12385040"/>
                    <a:pt x="15834312" y="12385040"/>
                    <a:pt x="15912543" y="12402312"/>
                  </a:cubicBezTo>
                  <a:cubicBezTo>
                    <a:pt x="15977694" y="12419584"/>
                    <a:pt x="16029890" y="12462764"/>
                    <a:pt x="16121204" y="12454128"/>
                  </a:cubicBezTo>
                  <a:cubicBezTo>
                    <a:pt x="16199437" y="12445492"/>
                    <a:pt x="16290749" y="12471400"/>
                    <a:pt x="16381936" y="12445492"/>
                  </a:cubicBezTo>
                  <a:lnTo>
                    <a:pt x="16434132" y="12445492"/>
                  </a:lnTo>
                  <a:cubicBezTo>
                    <a:pt x="16512365" y="12462764"/>
                    <a:pt x="16590596" y="12471400"/>
                    <a:pt x="16655747" y="12514580"/>
                  </a:cubicBezTo>
                  <a:cubicBezTo>
                    <a:pt x="16733979" y="12557760"/>
                    <a:pt x="16747061" y="12237974"/>
                    <a:pt x="16825293" y="12272645"/>
                  </a:cubicBezTo>
                  <a:cubicBezTo>
                    <a:pt x="16942641" y="12324461"/>
                    <a:pt x="16916605" y="12272645"/>
                    <a:pt x="17033953" y="12315825"/>
                  </a:cubicBezTo>
                  <a:cubicBezTo>
                    <a:pt x="17125267" y="12341733"/>
                    <a:pt x="17086150" y="12246737"/>
                    <a:pt x="17190418" y="12264009"/>
                  </a:cubicBezTo>
                  <a:cubicBezTo>
                    <a:pt x="17203498" y="12264009"/>
                    <a:pt x="17359963" y="12333097"/>
                    <a:pt x="17359963" y="12324461"/>
                  </a:cubicBezTo>
                  <a:cubicBezTo>
                    <a:pt x="17425114" y="12298553"/>
                    <a:pt x="17490392" y="12039219"/>
                    <a:pt x="17555543" y="12047855"/>
                  </a:cubicBezTo>
                  <a:cubicBezTo>
                    <a:pt x="17685971" y="12073763"/>
                    <a:pt x="17803319" y="12056490"/>
                    <a:pt x="17920668" y="12021947"/>
                  </a:cubicBezTo>
                  <a:cubicBezTo>
                    <a:pt x="17985818" y="12004675"/>
                    <a:pt x="18090213" y="11944223"/>
                    <a:pt x="18142282" y="11970131"/>
                  </a:cubicBezTo>
                  <a:cubicBezTo>
                    <a:pt x="18233595" y="12013311"/>
                    <a:pt x="18324781" y="12030583"/>
                    <a:pt x="18429175" y="12039219"/>
                  </a:cubicBezTo>
                  <a:cubicBezTo>
                    <a:pt x="18442256" y="12039219"/>
                    <a:pt x="18455211" y="12047855"/>
                    <a:pt x="18468292" y="12056490"/>
                  </a:cubicBezTo>
                  <a:cubicBezTo>
                    <a:pt x="18507407" y="12091035"/>
                    <a:pt x="18689906" y="11996039"/>
                    <a:pt x="18729022" y="12030583"/>
                  </a:cubicBezTo>
                  <a:cubicBezTo>
                    <a:pt x="18781219" y="12082399"/>
                    <a:pt x="18833290" y="12134342"/>
                    <a:pt x="18885487" y="12177522"/>
                  </a:cubicBezTo>
                  <a:cubicBezTo>
                    <a:pt x="18911521" y="12194794"/>
                    <a:pt x="18950638" y="12203430"/>
                    <a:pt x="18963718" y="12220702"/>
                  </a:cubicBezTo>
                  <a:cubicBezTo>
                    <a:pt x="18976799" y="12263882"/>
                    <a:pt x="19002834" y="12281153"/>
                    <a:pt x="19067986" y="12281153"/>
                  </a:cubicBezTo>
                  <a:cubicBezTo>
                    <a:pt x="19107101" y="12281153"/>
                    <a:pt x="19146218" y="12289790"/>
                    <a:pt x="19172252" y="12307062"/>
                  </a:cubicBezTo>
                  <a:cubicBezTo>
                    <a:pt x="19237403" y="12332970"/>
                    <a:pt x="19289600" y="12358878"/>
                    <a:pt x="19341797" y="12384786"/>
                  </a:cubicBezTo>
                  <a:cubicBezTo>
                    <a:pt x="19406948" y="12410694"/>
                    <a:pt x="19472226" y="12436602"/>
                    <a:pt x="19498262" y="12479909"/>
                  </a:cubicBezTo>
                  <a:cubicBezTo>
                    <a:pt x="19511343" y="12497181"/>
                    <a:pt x="19524296" y="12505817"/>
                    <a:pt x="19537377" y="12514453"/>
                  </a:cubicBezTo>
                  <a:cubicBezTo>
                    <a:pt x="19589574" y="12548997"/>
                    <a:pt x="19641644" y="12574905"/>
                    <a:pt x="19693842" y="12609576"/>
                  </a:cubicBezTo>
                  <a:cubicBezTo>
                    <a:pt x="19772073" y="12652756"/>
                    <a:pt x="19837224" y="12704699"/>
                    <a:pt x="19915456" y="12747879"/>
                  </a:cubicBezTo>
                  <a:cubicBezTo>
                    <a:pt x="19941492" y="12756515"/>
                    <a:pt x="19967653" y="12773787"/>
                    <a:pt x="19993689" y="12782423"/>
                  </a:cubicBezTo>
                  <a:cubicBezTo>
                    <a:pt x="20045886" y="12799695"/>
                    <a:pt x="20097955" y="12816967"/>
                    <a:pt x="20137071" y="12842875"/>
                  </a:cubicBezTo>
                  <a:cubicBezTo>
                    <a:pt x="20176188" y="12868783"/>
                    <a:pt x="20358687" y="12713208"/>
                    <a:pt x="20384848" y="12747752"/>
                  </a:cubicBezTo>
                  <a:cubicBezTo>
                    <a:pt x="20384848" y="12756388"/>
                    <a:pt x="20397929" y="12756388"/>
                    <a:pt x="20410883" y="12756388"/>
                  </a:cubicBezTo>
                  <a:cubicBezTo>
                    <a:pt x="20489116" y="12799568"/>
                    <a:pt x="20567347" y="12782296"/>
                    <a:pt x="20645579" y="12765024"/>
                  </a:cubicBezTo>
                  <a:cubicBezTo>
                    <a:pt x="20671615" y="12756388"/>
                    <a:pt x="20697776" y="12747752"/>
                    <a:pt x="20710730" y="12756388"/>
                  </a:cubicBezTo>
                  <a:cubicBezTo>
                    <a:pt x="20802043" y="12782296"/>
                    <a:pt x="20867194" y="12842875"/>
                    <a:pt x="20984543" y="12851511"/>
                  </a:cubicBezTo>
                  <a:cubicBezTo>
                    <a:pt x="20984543" y="12851511"/>
                    <a:pt x="20997623" y="12851511"/>
                    <a:pt x="20997623" y="12860147"/>
                  </a:cubicBezTo>
                  <a:cubicBezTo>
                    <a:pt x="21023658" y="12911963"/>
                    <a:pt x="21101891" y="12911963"/>
                    <a:pt x="21167168" y="12920599"/>
                  </a:cubicBezTo>
                  <a:cubicBezTo>
                    <a:pt x="21206284" y="12920599"/>
                    <a:pt x="21245400" y="12929235"/>
                    <a:pt x="21271436" y="12937871"/>
                  </a:cubicBezTo>
                  <a:cubicBezTo>
                    <a:pt x="21349668" y="12963779"/>
                    <a:pt x="21427899" y="12998323"/>
                    <a:pt x="21519213" y="13015595"/>
                  </a:cubicBezTo>
                  <a:cubicBezTo>
                    <a:pt x="21636561" y="13041503"/>
                    <a:pt x="21753908" y="13058775"/>
                    <a:pt x="21845221" y="13102082"/>
                  </a:cubicBezTo>
                  <a:cubicBezTo>
                    <a:pt x="21858302" y="13102082"/>
                    <a:pt x="21871256" y="13102082"/>
                    <a:pt x="21871256" y="13110718"/>
                  </a:cubicBezTo>
                  <a:cubicBezTo>
                    <a:pt x="21910372" y="13127989"/>
                    <a:pt x="21975523" y="13136626"/>
                    <a:pt x="22001686" y="13162535"/>
                  </a:cubicBezTo>
                  <a:cubicBezTo>
                    <a:pt x="22040801" y="13214350"/>
                    <a:pt x="22145068" y="13205713"/>
                    <a:pt x="22197266" y="13249021"/>
                  </a:cubicBezTo>
                  <a:lnTo>
                    <a:pt x="22210346" y="13249021"/>
                  </a:lnTo>
                  <a:cubicBezTo>
                    <a:pt x="22262543" y="13249021"/>
                    <a:pt x="22314614" y="13257657"/>
                    <a:pt x="22379892" y="13257657"/>
                  </a:cubicBezTo>
                  <a:cubicBezTo>
                    <a:pt x="22405926" y="13249021"/>
                    <a:pt x="22445043" y="13231749"/>
                    <a:pt x="22471204" y="13231749"/>
                  </a:cubicBezTo>
                  <a:cubicBezTo>
                    <a:pt x="22588552" y="13257657"/>
                    <a:pt x="22705900" y="13257657"/>
                    <a:pt x="22784132" y="13188569"/>
                  </a:cubicBezTo>
                  <a:cubicBezTo>
                    <a:pt x="22797214" y="13179933"/>
                    <a:pt x="22823248" y="13179933"/>
                    <a:pt x="22849283" y="13179933"/>
                  </a:cubicBezTo>
                  <a:lnTo>
                    <a:pt x="22953550" y="13179933"/>
                  </a:lnTo>
                  <a:cubicBezTo>
                    <a:pt x="23070898" y="13162660"/>
                    <a:pt x="23175166" y="13145388"/>
                    <a:pt x="23292641" y="13136753"/>
                  </a:cubicBezTo>
                  <a:cubicBezTo>
                    <a:pt x="23344838" y="13128117"/>
                    <a:pt x="23409989" y="13145388"/>
                    <a:pt x="23462186" y="13154025"/>
                  </a:cubicBezTo>
                  <a:cubicBezTo>
                    <a:pt x="23514382" y="13162660"/>
                    <a:pt x="23566452" y="13162660"/>
                    <a:pt x="23618649" y="13162660"/>
                  </a:cubicBezTo>
                  <a:cubicBezTo>
                    <a:pt x="23683800" y="13162660"/>
                    <a:pt x="23735997" y="13145388"/>
                    <a:pt x="23801148" y="13145388"/>
                  </a:cubicBezTo>
                  <a:cubicBezTo>
                    <a:pt x="23853345" y="13136753"/>
                    <a:pt x="23918496" y="13136753"/>
                    <a:pt x="23970693" y="13128117"/>
                  </a:cubicBezTo>
                  <a:cubicBezTo>
                    <a:pt x="24088042" y="13110845"/>
                    <a:pt x="24192308" y="13093573"/>
                    <a:pt x="24309783" y="13084936"/>
                  </a:cubicBezTo>
                  <a:cubicBezTo>
                    <a:pt x="24388016" y="12791059"/>
                    <a:pt x="24374934" y="12445365"/>
                    <a:pt x="24374934" y="12091035"/>
                  </a:cubicBezTo>
                  <a:close/>
                </a:path>
              </a:pathLst>
            </a:custGeom>
            <a:blipFill>
              <a:blip r:embed="rId4"/>
              <a:stretch>
                <a:fillRect l="-21971" t="0" r="-2197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8888" r="0" b="-3888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2567">
                <a:alpha val="6588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76" y="958846"/>
            <a:ext cx="9445523" cy="84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3"/>
              </a:lnSpc>
            </a:pPr>
            <a:r>
              <a:rPr lang="en-US" sz="5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PROJECT TITLE: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3777" y="1879647"/>
            <a:ext cx="9445523" cy="1758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3"/>
              </a:lnSpc>
            </a:pPr>
            <a:r>
              <a:rPr lang="en-US" sz="5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Fraud Detection System For Financial Transactions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50238" y="5046021"/>
            <a:ext cx="9445562" cy="38100"/>
            <a:chOff x="0" y="0"/>
            <a:chExt cx="12594082" cy="5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94082" cy="50800"/>
            </a:xfrm>
            <a:custGeom>
              <a:avLst/>
              <a:gdLst/>
              <a:ahLst/>
              <a:cxnLst/>
              <a:rect r="r" b="b" t="t" l="l"/>
              <a:pathLst>
                <a:path h="50800" w="12594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68682" y="0"/>
                  </a:lnTo>
                  <a:cubicBezTo>
                    <a:pt x="12582651" y="0"/>
                    <a:pt x="12594082" y="11430"/>
                    <a:pt x="12594082" y="25400"/>
                  </a:cubicBezTo>
                  <a:cubicBezTo>
                    <a:pt x="12594082" y="39370"/>
                    <a:pt x="12582651" y="50800"/>
                    <a:pt x="12568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FD0D8">
                <a:alpha val="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850238" y="4484943"/>
            <a:ext cx="14009294" cy="559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0"/>
              </a:lnSpc>
            </a:pPr>
            <a:r>
              <a:rPr lang="en-US" sz="3312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Presented By:Group-5</a:t>
            </a:r>
          </a:p>
          <a:p>
            <a:pPr algn="l">
              <a:lnSpc>
                <a:spcPts val="5170"/>
              </a:lnSpc>
            </a:pPr>
            <a:r>
              <a:rPr lang="en-US" sz="3312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Batch-62(C)</a:t>
            </a:r>
          </a:p>
          <a:p>
            <a:pPr algn="l">
              <a:lnSpc>
                <a:spcPts val="5168"/>
              </a:lnSpc>
            </a:pPr>
            <a:r>
              <a:rPr lang="en-US" sz="3312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Course Code:CSE0612302</a:t>
            </a:r>
          </a:p>
          <a:p>
            <a:pPr algn="l">
              <a:lnSpc>
                <a:spcPts val="4856"/>
              </a:lnSpc>
            </a:pPr>
          </a:p>
          <a:p>
            <a:pPr algn="l">
              <a:lnSpc>
                <a:spcPts val="6104"/>
              </a:lnSpc>
            </a:pPr>
            <a:r>
              <a:rPr lang="en-US" sz="3912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                       S</a:t>
            </a:r>
            <a:r>
              <a:rPr lang="en-US" sz="3912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ubmitted to:</a:t>
            </a:r>
          </a:p>
          <a:p>
            <a:pPr algn="l">
              <a:lnSpc>
                <a:spcPts val="6104"/>
              </a:lnSpc>
            </a:pPr>
            <a:r>
              <a:rPr lang="en-US" sz="3912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                   Md. Ashraful Kabir</a:t>
            </a:r>
          </a:p>
          <a:p>
            <a:pPr algn="l">
              <a:lnSpc>
                <a:spcPts val="6104"/>
              </a:lnSpc>
            </a:pPr>
            <a:r>
              <a:rPr lang="en-US" sz="3912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          </a:t>
            </a:r>
            <a:r>
              <a:rPr lang="en-US" sz="391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Senior Lecturer, Dept. Of CSE</a:t>
            </a:r>
          </a:p>
          <a:p>
            <a:pPr algn="l">
              <a:lnSpc>
                <a:spcPts val="6106"/>
              </a:lnSpc>
            </a:pPr>
            <a:r>
              <a:rPr lang="en-US" sz="391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                       Uttara University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377773"/>
            <a:chOff x="0" y="0"/>
            <a:chExt cx="24384000" cy="138370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837031"/>
            </a:xfrm>
            <a:custGeom>
              <a:avLst/>
              <a:gdLst/>
              <a:ahLst/>
              <a:cxnLst/>
              <a:rect r="r" b="b" t="t" l="l"/>
              <a:pathLst>
                <a:path h="1383703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837031"/>
                  </a:lnTo>
                  <a:lnTo>
                    <a:pt x="0" y="13837031"/>
                  </a:lnTo>
                  <a:close/>
                </a:path>
              </a:pathLst>
            </a:custGeom>
            <a:solidFill>
              <a:srgbClr val="182567">
                <a:alpha val="6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87678" y="353235"/>
            <a:ext cx="14384998" cy="750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9"/>
              </a:lnSpc>
            </a:pPr>
            <a:r>
              <a:rPr lang="en-US" b="true" sz="5195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 Overview:</a:t>
            </a:r>
          </a:p>
          <a:p>
            <a:pPr algn="l">
              <a:lnSpc>
                <a:spcPts val="5388"/>
              </a:lnSpc>
            </a:pPr>
            <a:r>
              <a:rPr lang="en-US" sz="48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·Project Overview</a:t>
            </a:r>
          </a:p>
          <a:p>
            <a:pPr algn="l">
              <a:lnSpc>
                <a:spcPts val="5388"/>
              </a:lnSpc>
            </a:pPr>
            <a:r>
              <a:rPr lang="en-US" sz="48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·Problem Statement(Why This Project Matters?)</a:t>
            </a:r>
          </a:p>
          <a:p>
            <a:pPr algn="l">
              <a:lnSpc>
                <a:spcPts val="5388"/>
              </a:lnSpc>
            </a:pPr>
            <a:r>
              <a:rPr lang="en-US" sz="48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·Project Objectives</a:t>
            </a:r>
          </a:p>
          <a:p>
            <a:pPr algn="l">
              <a:lnSpc>
                <a:spcPts val="5388"/>
              </a:lnSpc>
            </a:pPr>
            <a:r>
              <a:rPr lang="en-US" sz="48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·System Modules</a:t>
            </a:r>
          </a:p>
          <a:p>
            <a:pPr algn="l">
              <a:lnSpc>
                <a:spcPts val="5388"/>
              </a:lnSpc>
            </a:pPr>
            <a:r>
              <a:rPr lang="en-US" sz="48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·How The System Works</a:t>
            </a:r>
          </a:p>
          <a:p>
            <a:pPr algn="l">
              <a:lnSpc>
                <a:spcPts val="5388"/>
              </a:lnSpc>
            </a:pPr>
            <a:r>
              <a:rPr lang="en-US" sz="48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·Technology Stack</a:t>
            </a:r>
          </a:p>
          <a:p>
            <a:pPr algn="l">
              <a:lnSpc>
                <a:spcPts val="5388"/>
              </a:lnSpc>
            </a:pPr>
            <a:r>
              <a:rPr lang="en-US" sz="48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·Development Methodology</a:t>
            </a:r>
          </a:p>
          <a:p>
            <a:pPr algn="l">
              <a:lnSpc>
                <a:spcPts val="5388"/>
              </a:lnSpc>
            </a:pPr>
            <a:r>
              <a:rPr lang="en-US" sz="48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·Project Timeline</a:t>
            </a:r>
          </a:p>
          <a:p>
            <a:pPr algn="l">
              <a:lnSpc>
                <a:spcPts val="5388"/>
              </a:lnSpc>
            </a:pPr>
            <a:r>
              <a:rPr lang="en-US" sz="48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·Risk Analysis</a:t>
            </a:r>
          </a:p>
          <a:p>
            <a:pPr algn="l">
              <a:lnSpc>
                <a:spcPts val="5388"/>
              </a:lnSpc>
            </a:pPr>
            <a:r>
              <a:rPr lang="en-US" sz="48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·Evaluation Criteria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93766" y="1765738"/>
            <a:ext cx="2356866" cy="2856071"/>
            <a:chOff x="0" y="0"/>
            <a:chExt cx="3142488" cy="38080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2488" cy="3808095"/>
            </a:xfrm>
            <a:custGeom>
              <a:avLst/>
              <a:gdLst/>
              <a:ahLst/>
              <a:cxnLst/>
              <a:rect r="r" b="b" t="t" l="l"/>
              <a:pathLst>
                <a:path h="3808095" w="3142488">
                  <a:moveTo>
                    <a:pt x="353949" y="0"/>
                  </a:moveTo>
                  <a:lnTo>
                    <a:pt x="2788539" y="0"/>
                  </a:lnTo>
                  <a:cubicBezTo>
                    <a:pt x="2983992" y="0"/>
                    <a:pt x="3142488" y="158496"/>
                    <a:pt x="3142488" y="353949"/>
                  </a:cubicBezTo>
                  <a:lnTo>
                    <a:pt x="3142488" y="3454146"/>
                  </a:lnTo>
                  <a:cubicBezTo>
                    <a:pt x="3142488" y="3649599"/>
                    <a:pt x="2983992" y="3808095"/>
                    <a:pt x="2788539" y="3808095"/>
                  </a:cubicBezTo>
                  <a:lnTo>
                    <a:pt x="353949" y="3808095"/>
                  </a:lnTo>
                  <a:cubicBezTo>
                    <a:pt x="158496" y="3808222"/>
                    <a:pt x="0" y="3649726"/>
                    <a:pt x="0" y="3454146"/>
                  </a:cubicBezTo>
                  <a:lnTo>
                    <a:pt x="0" y="353949"/>
                  </a:lnTo>
                  <a:cubicBezTo>
                    <a:pt x="0" y="158496"/>
                    <a:pt x="158496" y="0"/>
                    <a:pt x="35394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014" r="0" b="-50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89804" y="1820873"/>
            <a:ext cx="2356866" cy="2856071"/>
            <a:chOff x="0" y="0"/>
            <a:chExt cx="3142488" cy="38080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42488" cy="3808095"/>
            </a:xfrm>
            <a:custGeom>
              <a:avLst/>
              <a:gdLst/>
              <a:ahLst/>
              <a:cxnLst/>
              <a:rect r="r" b="b" t="t" l="l"/>
              <a:pathLst>
                <a:path h="3808095" w="3142488">
                  <a:moveTo>
                    <a:pt x="353949" y="0"/>
                  </a:moveTo>
                  <a:lnTo>
                    <a:pt x="2788539" y="0"/>
                  </a:lnTo>
                  <a:cubicBezTo>
                    <a:pt x="2983992" y="0"/>
                    <a:pt x="3142488" y="158496"/>
                    <a:pt x="3142488" y="353949"/>
                  </a:cubicBezTo>
                  <a:lnTo>
                    <a:pt x="3142488" y="3454146"/>
                  </a:lnTo>
                  <a:cubicBezTo>
                    <a:pt x="3142488" y="3649599"/>
                    <a:pt x="2983992" y="3808095"/>
                    <a:pt x="2788539" y="3808095"/>
                  </a:cubicBezTo>
                  <a:lnTo>
                    <a:pt x="353949" y="3808095"/>
                  </a:lnTo>
                  <a:cubicBezTo>
                    <a:pt x="158496" y="3808222"/>
                    <a:pt x="0" y="3649726"/>
                    <a:pt x="0" y="3454146"/>
                  </a:cubicBezTo>
                  <a:lnTo>
                    <a:pt x="0" y="353949"/>
                  </a:lnTo>
                  <a:cubicBezTo>
                    <a:pt x="0" y="158496"/>
                    <a:pt x="158496" y="0"/>
                    <a:pt x="353949" y="0"/>
                  </a:cubicBezTo>
                  <a:close/>
                </a:path>
              </a:pathLst>
            </a:custGeom>
            <a:blipFill>
              <a:blip r:embed="rId4"/>
              <a:stretch>
                <a:fillRect l="-10590" t="0" r="-1059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45525" y="1820873"/>
            <a:ext cx="2356866" cy="2856071"/>
            <a:chOff x="0" y="0"/>
            <a:chExt cx="3142488" cy="38080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2488" cy="3808095"/>
            </a:xfrm>
            <a:custGeom>
              <a:avLst/>
              <a:gdLst/>
              <a:ahLst/>
              <a:cxnLst/>
              <a:rect r="r" b="b" t="t" l="l"/>
              <a:pathLst>
                <a:path h="3808095" w="3142488">
                  <a:moveTo>
                    <a:pt x="353949" y="0"/>
                  </a:moveTo>
                  <a:lnTo>
                    <a:pt x="2788539" y="0"/>
                  </a:lnTo>
                  <a:cubicBezTo>
                    <a:pt x="2983992" y="0"/>
                    <a:pt x="3142488" y="158496"/>
                    <a:pt x="3142488" y="353949"/>
                  </a:cubicBezTo>
                  <a:lnTo>
                    <a:pt x="3142488" y="3454146"/>
                  </a:lnTo>
                  <a:cubicBezTo>
                    <a:pt x="3142488" y="3649599"/>
                    <a:pt x="2983992" y="3808095"/>
                    <a:pt x="2788539" y="3808095"/>
                  </a:cubicBezTo>
                  <a:lnTo>
                    <a:pt x="353949" y="3808095"/>
                  </a:lnTo>
                  <a:cubicBezTo>
                    <a:pt x="158496" y="3808222"/>
                    <a:pt x="0" y="3649726"/>
                    <a:pt x="0" y="3454146"/>
                  </a:cubicBezTo>
                  <a:lnTo>
                    <a:pt x="0" y="353949"/>
                  </a:lnTo>
                  <a:cubicBezTo>
                    <a:pt x="0" y="158496"/>
                    <a:pt x="158496" y="0"/>
                    <a:pt x="35394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924" r="0" b="-492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902397" y="258115"/>
            <a:ext cx="10088547" cy="7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6"/>
              </a:lnSpc>
            </a:pPr>
            <a:r>
              <a:rPr lang="en-US" sz="48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Team Members &amp; Responsibilities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6547" y="5736651"/>
            <a:ext cx="4504344" cy="61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4"/>
              </a:lnSpc>
            </a:pPr>
            <a:r>
              <a:rPr lang="en-US" sz="288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2243081086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2685" y="4848394"/>
            <a:ext cx="3089005" cy="70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1"/>
              </a:lnSpc>
            </a:pPr>
            <a:r>
              <a:rPr lang="en-US" sz="332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Rafiul Hasan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8689" y="5733229"/>
            <a:ext cx="4504344" cy="61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4"/>
              </a:lnSpc>
            </a:pPr>
            <a:r>
              <a:rPr lang="en-US" sz="288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2243081084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91176" y="5704654"/>
            <a:ext cx="4504344" cy="61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4"/>
              </a:lnSpc>
            </a:pPr>
            <a:r>
              <a:rPr lang="en-US" sz="288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2243081101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84506" y="4884434"/>
            <a:ext cx="3278905" cy="73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Hasan Ahmmad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5492" y="4973413"/>
            <a:ext cx="3517411" cy="578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9"/>
              </a:lnSpc>
            </a:pPr>
            <a:r>
              <a:rPr lang="en-US" sz="346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Tamim Sheikh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58689" y="6525728"/>
            <a:ext cx="4571862" cy="99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3"/>
              </a:lnSpc>
            </a:pPr>
            <a:r>
              <a:rPr lang="en-US" sz="288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 , UI,</a:t>
            </a:r>
          </a:p>
          <a:p>
            <a:pPr algn="ctr">
              <a:lnSpc>
                <a:spcPts val="4044"/>
              </a:lnSpc>
              <a:spcBef>
                <a:spcPct val="0"/>
              </a:spcBef>
            </a:pPr>
            <a:r>
              <a:rPr lang="en-US" b="true" sz="288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3969" y="6542454"/>
            <a:ext cx="4041407" cy="99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3"/>
              </a:lnSpc>
            </a:pPr>
            <a:r>
              <a:rPr lang="en-US" sz="288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Lead, Backend,</a:t>
            </a:r>
          </a:p>
          <a:p>
            <a:pPr algn="ctr">
              <a:lnSpc>
                <a:spcPts val="4044"/>
              </a:lnSpc>
              <a:spcBef>
                <a:spcPct val="0"/>
              </a:spcBef>
            </a:pPr>
            <a:r>
              <a:rPr lang="en-US" b="true" sz="288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77210" y="6542454"/>
            <a:ext cx="3932277" cy="99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3"/>
              </a:lnSpc>
            </a:pPr>
            <a:r>
              <a:rPr lang="en-US" sz="288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 Design,SQL,</a:t>
            </a:r>
          </a:p>
          <a:p>
            <a:pPr algn="ctr">
              <a:lnSpc>
                <a:spcPts val="4044"/>
              </a:lnSpc>
              <a:spcBef>
                <a:spcPct val="0"/>
              </a:spcBef>
            </a:pPr>
            <a:r>
              <a:rPr lang="en-US" b="true" sz="288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-28575"/>
            <a:ext cx="17962821" cy="912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4"/>
              </a:lnSpc>
            </a:pPr>
            <a:r>
              <a:rPr lang="en-US" sz="329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                                                                 </a:t>
            </a:r>
            <a:r>
              <a:rPr lang="en-US" sz="329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Project Overview</a:t>
            </a:r>
          </a:p>
          <a:p>
            <a:pPr algn="l" marL="709931" indent="-177483" lvl="3">
              <a:lnSpc>
                <a:spcPts val="3244"/>
              </a:lnSpc>
              <a:buFont typeface="Arial"/>
              <a:buChar char="￭"/>
            </a:pPr>
            <a:r>
              <a:rPr lang="en-US" b="true" sz="2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Project Title</a:t>
            </a:r>
          </a:p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Fraud Detection System for Financial Transactions</a:t>
            </a:r>
          </a:p>
          <a:p>
            <a:pPr algn="ctr" marL="709931" indent="-177483" lvl="3">
              <a:lnSpc>
                <a:spcPts val="3244"/>
              </a:lnSpc>
            </a:pPr>
          </a:p>
          <a:p>
            <a:pPr algn="l" marL="709931" indent="-177483" lvl="3">
              <a:lnSpc>
                <a:spcPts val="3242"/>
              </a:lnSpc>
              <a:buFont typeface="Arial"/>
              <a:buChar char="￭"/>
            </a:pPr>
            <a:r>
              <a:rPr lang="en-US" b="true" sz="2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Purpose</a:t>
            </a:r>
          </a:p>
          <a:p>
            <a:pPr algn="l" marL="709930" indent="-177482" lvl="3">
              <a:lnSpc>
                <a:spcPts val="3244"/>
              </a:lnSpc>
              <a:buFont typeface="Arial"/>
              <a:buChar char="￭"/>
            </a:pPr>
            <a:r>
              <a:rPr lang="en-US" b="true" sz="2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Develop a secure web-based system that detects suspicious financial transactions in real time using predefined rulebased techniques.</a:t>
            </a:r>
          </a:p>
          <a:p>
            <a:pPr algn="ctr" marL="709931" indent="-177483" lvl="3">
              <a:lnSpc>
                <a:spcPts val="3244"/>
              </a:lnSpc>
            </a:pPr>
          </a:p>
          <a:p>
            <a:pPr algn="l" marL="709931" indent="-177483" lvl="3">
              <a:lnSpc>
                <a:spcPts val="3244"/>
              </a:lnSpc>
              <a:buFont typeface="Arial"/>
              <a:buChar char="￭"/>
            </a:pPr>
            <a:r>
              <a:rPr lang="en-US" b="true" sz="2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Key Features</a:t>
            </a:r>
          </a:p>
          <a:p>
            <a:pPr algn="l" marL="709931" indent="-177483" lvl="3">
              <a:lnSpc>
                <a:spcPts val="3244"/>
              </a:lnSpc>
            </a:pPr>
          </a:p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      </a:t>
            </a: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 Transaction Monitoring</a:t>
            </a:r>
          </a:p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Rule-based Fraud Detection</a:t>
            </a:r>
          </a:p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Instant Fraud Alerts</a:t>
            </a:r>
          </a:p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Admin Dashboard</a:t>
            </a:r>
          </a:p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Reports &amp; Analytics</a:t>
            </a:r>
          </a:p>
          <a:p>
            <a:pPr algn="l" marL="709931" indent="-177483" lvl="3">
              <a:lnSpc>
                <a:spcPts val="3244"/>
              </a:lnSpc>
            </a:pPr>
          </a:p>
          <a:p>
            <a:pPr algn="l" marL="709930" indent="-177482" lvl="3">
              <a:lnSpc>
                <a:spcPts val="3244"/>
              </a:lnSpc>
              <a:buFont typeface="Arial"/>
              <a:buChar char="￭"/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arget Users</a:t>
            </a:r>
          </a:p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System Administrators</a:t>
            </a:r>
          </a:p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Fraud Analysts</a:t>
            </a:r>
          </a:p>
          <a:p>
            <a:pPr algn="l" marL="709931" indent="-177483" lvl="3">
              <a:lnSpc>
                <a:spcPts val="3244"/>
              </a:lnSpc>
            </a:pPr>
          </a:p>
          <a:p>
            <a:pPr algn="l" marL="709931" indent="-177483" lvl="3">
              <a:lnSpc>
                <a:spcPts val="3242"/>
              </a:lnSpc>
              <a:buFont typeface="Arial"/>
              <a:buChar char="￭"/>
            </a:pPr>
            <a:r>
              <a:rPr lang="en-US" b="true" sz="2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Expected Outcomes</a:t>
            </a:r>
          </a:p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        </a:t>
            </a:r>
            <a:r>
              <a:rPr lang="en-US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secure, reliable, and user-friendly platform that reduces financial fraud and improves customer trust.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6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77797"/>
            <a:ext cx="9445523" cy="86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Why This Project Matters?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7476" y="1092603"/>
            <a:ext cx="9445523" cy="183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sz="26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Millions of online transactions occur every day — and cyber fraud is accelerating. Manual monitoring simply cannot keep pace with the speed and scale of modern financial crime.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83904" y="3514354"/>
            <a:ext cx="9462135" cy="2774823"/>
          </a:xfrm>
          <a:custGeom>
            <a:avLst/>
            <a:gdLst/>
            <a:ahLst/>
            <a:cxnLst/>
            <a:rect r="r" b="b" t="t" l="l"/>
            <a:pathLst>
              <a:path h="2774823" w="9462135">
                <a:moveTo>
                  <a:pt x="0" y="0"/>
                </a:moveTo>
                <a:lnTo>
                  <a:pt x="9462135" y="0"/>
                </a:lnTo>
                <a:lnTo>
                  <a:pt x="9462135" y="2774823"/>
                </a:lnTo>
                <a:lnTo>
                  <a:pt x="0" y="27748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6" r="0" b="-8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85284" y="4045448"/>
            <a:ext cx="2017662" cy="5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The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284" y="4429868"/>
            <a:ext cx="8859441" cy="165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40" indent="-168910" lvl="3">
              <a:lnSpc>
                <a:spcPts val="3830"/>
              </a:lnSpc>
              <a:buFont typeface="Arial"/>
              <a:buChar char="￭"/>
            </a:pPr>
            <a:r>
              <a:rPr lang="en-US" sz="24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Unauthorized access &amp; identity theft</a:t>
            </a:r>
          </a:p>
          <a:p>
            <a:pPr algn="l" marL="675640" indent="-168910" lvl="3">
              <a:lnSpc>
                <a:spcPts val="3830"/>
              </a:lnSpc>
              <a:buFont typeface="Arial"/>
              <a:buChar char="￭"/>
            </a:pPr>
            <a:r>
              <a:rPr lang="en-US" sz="24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Slow, error-prone manual reviews</a:t>
            </a:r>
          </a:p>
          <a:p>
            <a:pPr algn="l" marL="675640" indent="-168910" lvl="3">
              <a:lnSpc>
                <a:spcPts val="3830"/>
              </a:lnSpc>
              <a:buFont typeface="Arial"/>
              <a:buChar char="￭"/>
            </a:pPr>
            <a:r>
              <a:rPr lang="en-US" sz="24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Billions dollars lost to fraud annually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83904" y="6871545"/>
            <a:ext cx="9462230" cy="2576703"/>
          </a:xfrm>
          <a:custGeom>
            <a:avLst/>
            <a:gdLst/>
            <a:ahLst/>
            <a:cxnLst/>
            <a:rect r="r" b="b" t="t" l="l"/>
            <a:pathLst>
              <a:path h="2576703" w="9462230">
                <a:moveTo>
                  <a:pt x="0" y="0"/>
                </a:moveTo>
                <a:lnTo>
                  <a:pt x="9462230" y="0"/>
                </a:lnTo>
                <a:lnTo>
                  <a:pt x="9462230" y="2576703"/>
                </a:lnTo>
                <a:lnTo>
                  <a:pt x="0" y="2576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9" r="0" b="-5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85284" y="6897272"/>
            <a:ext cx="1946377" cy="5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Our Solution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5284" y="7280243"/>
            <a:ext cx="8859441" cy="2064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31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 smart, rule-based fraud detection engine that identifies suspicious transactions </a:t>
            </a:r>
            <a:r>
              <a:rPr lang="en-US" sz="2319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instantly</a:t>
            </a:r>
            <a:r>
              <a:rPr lang="en-US" sz="231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— calculating risk scores, triggering alerts, and empowering admins to act before damage is done.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6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86400"/>
            <a:ext cx="16303523" cy="958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3"/>
              </a:lnSpc>
            </a:pPr>
            <a:r>
              <a:rPr lang="en-US" sz="5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Project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590694"/>
            <a:ext cx="17217923" cy="5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3"/>
              </a:lnSpc>
            </a:pPr>
            <a:r>
              <a:rPr lang="en-US" sz="28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Six core objectives guide the system's design and implementation.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2872378"/>
            <a:ext cx="540391" cy="540391"/>
          </a:xfrm>
          <a:custGeom>
            <a:avLst/>
            <a:gdLst/>
            <a:ahLst/>
            <a:cxnLst/>
            <a:rect r="r" b="b" t="t" l="l"/>
            <a:pathLst>
              <a:path h="540391" w="540391">
                <a:moveTo>
                  <a:pt x="0" y="0"/>
                </a:moveTo>
                <a:lnTo>
                  <a:pt x="540392" y="0"/>
                </a:lnTo>
                <a:lnTo>
                  <a:pt x="540392" y="540391"/>
                </a:lnTo>
                <a:lnTo>
                  <a:pt x="0" y="540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648" r="0" b="-965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238" y="3677545"/>
            <a:ext cx="2583504" cy="45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Secure Database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054231"/>
            <a:ext cx="7990732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Encrypted storage with role-based access control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304887" y="2872378"/>
            <a:ext cx="540391" cy="540391"/>
          </a:xfrm>
          <a:custGeom>
            <a:avLst/>
            <a:gdLst/>
            <a:ahLst/>
            <a:cxnLst/>
            <a:rect r="r" b="b" t="t" l="l"/>
            <a:pathLst>
              <a:path h="540391" w="540391">
                <a:moveTo>
                  <a:pt x="0" y="0"/>
                </a:moveTo>
                <a:lnTo>
                  <a:pt x="540391" y="0"/>
                </a:lnTo>
                <a:lnTo>
                  <a:pt x="540391" y="540391"/>
                </a:lnTo>
                <a:lnTo>
                  <a:pt x="0" y="540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509" r="0" b="-350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04887" y="3677545"/>
            <a:ext cx="3300708" cy="45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Admin Authentication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04887" y="4054231"/>
            <a:ext cx="7990884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Secure login and session management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5248723"/>
            <a:ext cx="540391" cy="540391"/>
          </a:xfrm>
          <a:custGeom>
            <a:avLst/>
            <a:gdLst/>
            <a:ahLst/>
            <a:cxnLst/>
            <a:rect r="r" b="b" t="t" l="l"/>
            <a:pathLst>
              <a:path h="540391" w="540391">
                <a:moveTo>
                  <a:pt x="0" y="0"/>
                </a:moveTo>
                <a:lnTo>
                  <a:pt x="540392" y="0"/>
                </a:lnTo>
                <a:lnTo>
                  <a:pt x="540392" y="540391"/>
                </a:lnTo>
                <a:lnTo>
                  <a:pt x="0" y="5403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016" r="0" b="-701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2238" y="6053880"/>
            <a:ext cx="6958458" cy="42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Customer &amp; Account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6430566"/>
            <a:ext cx="7990732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Full lifecycle management of customers and accounts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304887" y="5248723"/>
            <a:ext cx="540391" cy="540391"/>
          </a:xfrm>
          <a:custGeom>
            <a:avLst/>
            <a:gdLst/>
            <a:ahLst/>
            <a:cxnLst/>
            <a:rect r="r" b="b" t="t" l="l"/>
            <a:pathLst>
              <a:path h="540391" w="540391">
                <a:moveTo>
                  <a:pt x="0" y="0"/>
                </a:moveTo>
                <a:lnTo>
                  <a:pt x="540391" y="0"/>
                </a:lnTo>
                <a:lnTo>
                  <a:pt x="540391" y="540391"/>
                </a:lnTo>
                <a:lnTo>
                  <a:pt x="0" y="540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7543" t="0" r="-17545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304887" y="6053880"/>
            <a:ext cx="3559816" cy="45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Transaction Monitoring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04887" y="6430566"/>
            <a:ext cx="7990884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Real-time tracking of all financial activity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2238" y="7625058"/>
            <a:ext cx="540391" cy="540391"/>
          </a:xfrm>
          <a:custGeom>
            <a:avLst/>
            <a:gdLst/>
            <a:ahLst/>
            <a:cxnLst/>
            <a:rect r="r" b="b" t="t" l="l"/>
            <a:pathLst>
              <a:path h="540391" w="540391">
                <a:moveTo>
                  <a:pt x="0" y="0"/>
                </a:moveTo>
                <a:lnTo>
                  <a:pt x="540392" y="0"/>
                </a:lnTo>
                <a:lnTo>
                  <a:pt x="540392" y="540391"/>
                </a:lnTo>
                <a:lnTo>
                  <a:pt x="0" y="540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6667" r="0" b="-16665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92238" y="8430216"/>
            <a:ext cx="2419055" cy="45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Fraud Detection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8806901"/>
            <a:ext cx="7990732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Rule-based engine with dynamic risk scoring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304887" y="7625058"/>
            <a:ext cx="540391" cy="540391"/>
          </a:xfrm>
          <a:custGeom>
            <a:avLst/>
            <a:gdLst/>
            <a:ahLst/>
            <a:cxnLst/>
            <a:rect r="r" b="b" t="t" l="l"/>
            <a:pathLst>
              <a:path h="540391" w="540391">
                <a:moveTo>
                  <a:pt x="0" y="0"/>
                </a:moveTo>
                <a:lnTo>
                  <a:pt x="540391" y="0"/>
                </a:lnTo>
                <a:lnTo>
                  <a:pt x="540391" y="540391"/>
                </a:lnTo>
                <a:lnTo>
                  <a:pt x="0" y="5403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877" t="0" r="-876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304887" y="8430216"/>
            <a:ext cx="3229423" cy="45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Reports &amp; Dashboard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04887" y="8806901"/>
            <a:ext cx="7990884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Visual insights and audit-ready reports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6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06041"/>
            <a:ext cx="16303523" cy="76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System Modules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1906343"/>
            <a:ext cx="7075551" cy="4174808"/>
            <a:chOff x="0" y="0"/>
            <a:chExt cx="9434068" cy="556641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434068" cy="5566410"/>
            </a:xfrm>
            <a:custGeom>
              <a:avLst/>
              <a:gdLst/>
              <a:ahLst/>
              <a:cxnLst/>
              <a:rect r="r" b="b" t="t" l="l"/>
              <a:pathLst>
                <a:path h="5566410" w="9434068">
                  <a:moveTo>
                    <a:pt x="0" y="0"/>
                  </a:moveTo>
                  <a:lnTo>
                    <a:pt x="9434068" y="0"/>
                  </a:lnTo>
                  <a:lnTo>
                    <a:pt x="9434068" y="5566410"/>
                  </a:lnTo>
                  <a:lnTo>
                    <a:pt x="0" y="5566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28" t="0" r="-2329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567137" y="2686869"/>
            <a:ext cx="8728624" cy="174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29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The system is organized into six interconnected modules, each managed through a centralized admin dashboard.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92238" y="6243037"/>
            <a:ext cx="3951237" cy="1543050"/>
          </a:xfrm>
          <a:custGeom>
            <a:avLst/>
            <a:gdLst/>
            <a:ahLst/>
            <a:cxnLst/>
            <a:rect r="r" b="b" t="t" l="l"/>
            <a:pathLst>
              <a:path h="1543050" w="3951237">
                <a:moveTo>
                  <a:pt x="0" y="0"/>
                </a:moveTo>
                <a:lnTo>
                  <a:pt x="3951237" y="0"/>
                </a:lnTo>
                <a:lnTo>
                  <a:pt x="3951237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0" t="0" r="-2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52102" y="6431461"/>
            <a:ext cx="1414615" cy="40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2102" y="6755902"/>
            <a:ext cx="3345809" cy="82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1"/>
              </a:lnSpc>
            </a:pPr>
            <a:r>
              <a:rPr lang="en-US" sz="19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Central command center with real-time metrics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5109572" y="6243037"/>
            <a:ext cx="3951389" cy="1543050"/>
          </a:xfrm>
          <a:custGeom>
            <a:avLst/>
            <a:gdLst/>
            <a:ahLst/>
            <a:cxnLst/>
            <a:rect r="r" b="b" t="t" l="l"/>
            <a:pathLst>
              <a:path h="1543050" w="3951389">
                <a:moveTo>
                  <a:pt x="0" y="0"/>
                </a:moveTo>
                <a:lnTo>
                  <a:pt x="3951389" y="0"/>
                </a:lnTo>
                <a:lnTo>
                  <a:pt x="3951389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8" t="0" r="-1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469436" y="6431461"/>
            <a:ext cx="2980734" cy="40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Customers &amp; Accounts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69436" y="6755902"/>
            <a:ext cx="3345952" cy="82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1"/>
              </a:lnSpc>
            </a:pPr>
            <a:r>
              <a:rPr lang="en-US" sz="19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User profiles, account creation, and management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227048" y="6243037"/>
            <a:ext cx="3951237" cy="1543050"/>
          </a:xfrm>
          <a:custGeom>
            <a:avLst/>
            <a:gdLst/>
            <a:ahLst/>
            <a:cxnLst/>
            <a:rect r="r" b="b" t="t" l="l"/>
            <a:pathLst>
              <a:path h="1543050" w="3951237">
                <a:moveTo>
                  <a:pt x="0" y="0"/>
                </a:moveTo>
                <a:lnTo>
                  <a:pt x="3951237" y="0"/>
                </a:lnTo>
                <a:lnTo>
                  <a:pt x="3951237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0" t="0" r="-2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586912" y="6431461"/>
            <a:ext cx="1699917" cy="40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Transactions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86912" y="6755902"/>
            <a:ext cx="3345809" cy="82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1"/>
              </a:lnSpc>
            </a:pPr>
            <a:r>
              <a:rPr lang="en-US" sz="19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Full transaction log with search and filtering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3344373" y="6243037"/>
            <a:ext cx="3951389" cy="1543050"/>
          </a:xfrm>
          <a:custGeom>
            <a:avLst/>
            <a:gdLst/>
            <a:ahLst/>
            <a:cxnLst/>
            <a:rect r="r" b="b" t="t" l="l"/>
            <a:pathLst>
              <a:path h="1543050" w="3951389">
                <a:moveTo>
                  <a:pt x="0" y="0"/>
                </a:moveTo>
                <a:lnTo>
                  <a:pt x="3951389" y="0"/>
                </a:lnTo>
                <a:lnTo>
                  <a:pt x="3951389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8" t="0" r="-18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704246" y="6431461"/>
            <a:ext cx="3147270" cy="40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Fraud Detection &amp; Alerts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04246" y="6755902"/>
            <a:ext cx="3345952" cy="82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1"/>
              </a:lnSpc>
            </a:pPr>
            <a:r>
              <a:rPr lang="en-US" sz="19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Automated flagging and risk notifications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92238" y="7952184"/>
            <a:ext cx="3951237" cy="1543050"/>
          </a:xfrm>
          <a:custGeom>
            <a:avLst/>
            <a:gdLst/>
            <a:ahLst/>
            <a:cxnLst/>
            <a:rect r="r" b="b" t="t" l="l"/>
            <a:pathLst>
              <a:path h="1543050" w="3951237">
                <a:moveTo>
                  <a:pt x="0" y="0"/>
                </a:moveTo>
                <a:lnTo>
                  <a:pt x="3951237" y="0"/>
                </a:lnTo>
                <a:lnTo>
                  <a:pt x="3951237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0" t="0" r="-2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52102" y="8140598"/>
            <a:ext cx="1009802" cy="40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Reports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2102" y="8465048"/>
            <a:ext cx="3345809" cy="82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1"/>
              </a:lnSpc>
            </a:pPr>
            <a:r>
              <a:rPr lang="en-US" sz="19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Exportable analytics and compliance summaries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6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358520" y="92450"/>
            <a:ext cx="5633952" cy="55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35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How the System Works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7127" y="611800"/>
            <a:ext cx="17150801" cy="140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</a:pPr>
            <a:r>
              <a:rPr lang="en-US" sz="2795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Every transaction flows through a structured pipeline designed to catch fraud before it causes harm. The system evaluates each transaction in real time, assigns a risk score, and escalates suspicious activity for human review.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3277" y="1902514"/>
            <a:ext cx="13872510" cy="6972490"/>
            <a:chOff x="0" y="0"/>
            <a:chExt cx="18496680" cy="929665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8496682" cy="9296654"/>
            </a:xfrm>
            <a:custGeom>
              <a:avLst/>
              <a:gdLst/>
              <a:ahLst/>
              <a:cxnLst/>
              <a:rect r="r" b="b" t="t" l="l"/>
              <a:pathLst>
                <a:path h="9296654" w="18496682">
                  <a:moveTo>
                    <a:pt x="0" y="0"/>
                  </a:moveTo>
                  <a:lnTo>
                    <a:pt x="18496682" y="0"/>
                  </a:lnTo>
                  <a:lnTo>
                    <a:pt x="18496682" y="9296654"/>
                  </a:lnTo>
                  <a:lnTo>
                    <a:pt x="0" y="9296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200" t="0" r="-820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47430" y="7469038"/>
            <a:ext cx="3668201" cy="544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Admin Review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47430" y="5855027"/>
            <a:ext cx="3668201" cy="544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Fraud Alert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47430" y="4257323"/>
            <a:ext cx="3668201" cy="544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Risk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47430" y="2643311"/>
            <a:ext cx="3668201" cy="544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Transaction Received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9361" y="8607704"/>
            <a:ext cx="16411289" cy="140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6"/>
              </a:lnSpc>
            </a:pPr>
            <a:r>
              <a:rPr lang="en-US" sz="281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The pipeline operates in real time — from transaction receipt to alert generation in seconds. Admins receive flagged transactions with full context, enabling fast, informed decisions that minimize false positives and reduce financial exposure.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6588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13777" y="196596"/>
            <a:ext cx="9445523" cy="72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Technology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45476" y="792023"/>
            <a:ext cx="10359923" cy="98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4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 modern, industry-standard stack chosen for performance, scalability, and developer productivity.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841904" y="2187026"/>
            <a:ext cx="9462135" cy="1893094"/>
          </a:xfrm>
          <a:custGeom>
            <a:avLst/>
            <a:gdLst/>
            <a:ahLst/>
            <a:cxnLst/>
            <a:rect r="r" b="b" t="t" l="l"/>
            <a:pathLst>
              <a:path h="1893094" w="9462135">
                <a:moveTo>
                  <a:pt x="0" y="0"/>
                </a:moveTo>
                <a:lnTo>
                  <a:pt x="9462135" y="0"/>
                </a:lnTo>
                <a:lnTo>
                  <a:pt x="9462135" y="1893093"/>
                </a:lnTo>
                <a:lnTo>
                  <a:pt x="0" y="18930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2" r="0" b="-3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072285" y="2303412"/>
            <a:ext cx="9001420" cy="40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72285" y="2673696"/>
            <a:ext cx="9228239" cy="103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47" indent="-136512" lvl="3">
              <a:lnSpc>
                <a:spcPts val="2724"/>
              </a:lnSpc>
              <a:buFont typeface="Arial"/>
              <a:buChar char="￭"/>
            </a:pPr>
            <a:r>
              <a:rPr lang="en-US" sz="193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HTML &amp; CSS</a:t>
            </a:r>
          </a:p>
          <a:p>
            <a:pPr algn="l" marL="546047" indent="-136512" lvl="3">
              <a:lnSpc>
                <a:spcPts val="2724"/>
              </a:lnSpc>
              <a:buFont typeface="Arial"/>
              <a:buChar char="￭"/>
            </a:pPr>
            <a:r>
              <a:rPr lang="en-US" sz="193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JavaScript </a:t>
            </a:r>
          </a:p>
          <a:p>
            <a:pPr algn="l" marL="546047" indent="-136512" lvl="3">
              <a:lnSpc>
                <a:spcPts val="2724"/>
              </a:lnSpc>
              <a:buFont typeface="Arial"/>
              <a:buChar char="￭"/>
            </a:pPr>
            <a:r>
              <a:rPr lang="en-US" sz="193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React.js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41904" y="4222852"/>
            <a:ext cx="9462135" cy="1539621"/>
          </a:xfrm>
          <a:custGeom>
            <a:avLst/>
            <a:gdLst/>
            <a:ahLst/>
            <a:cxnLst/>
            <a:rect r="r" b="b" t="t" l="l"/>
            <a:pathLst>
              <a:path h="1539621" w="9462135">
                <a:moveTo>
                  <a:pt x="0" y="0"/>
                </a:moveTo>
                <a:lnTo>
                  <a:pt x="9462135" y="0"/>
                </a:lnTo>
                <a:lnTo>
                  <a:pt x="9462135" y="1539621"/>
                </a:lnTo>
                <a:lnTo>
                  <a:pt x="0" y="15396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81" r="0" b="-81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72285" y="4396083"/>
            <a:ext cx="9001420" cy="40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72285" y="4709522"/>
            <a:ext cx="9001420" cy="80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22" indent="-136506" lvl="3">
              <a:lnSpc>
                <a:spcPts val="2722"/>
              </a:lnSpc>
              <a:buFont typeface="Arial"/>
              <a:buChar char="￭"/>
            </a:pPr>
            <a:r>
              <a:rPr lang="en-US" sz="193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Node.js</a:t>
            </a:r>
          </a:p>
          <a:p>
            <a:pPr algn="l" marL="546022" indent="-136506" lvl="3">
              <a:lnSpc>
                <a:spcPts val="2722"/>
              </a:lnSpc>
              <a:buFont typeface="Arial"/>
              <a:buChar char="￭"/>
            </a:pPr>
            <a:r>
              <a:rPr lang="en-US" sz="193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Express.js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841904" y="5905205"/>
            <a:ext cx="9462135" cy="1186148"/>
          </a:xfrm>
          <a:custGeom>
            <a:avLst/>
            <a:gdLst/>
            <a:ahLst/>
            <a:cxnLst/>
            <a:rect r="r" b="b" t="t" l="l"/>
            <a:pathLst>
              <a:path h="1186148" w="9462135">
                <a:moveTo>
                  <a:pt x="0" y="0"/>
                </a:moveTo>
                <a:lnTo>
                  <a:pt x="9462135" y="0"/>
                </a:lnTo>
                <a:lnTo>
                  <a:pt x="9462135" y="1186148"/>
                </a:lnTo>
                <a:lnTo>
                  <a:pt x="0" y="11861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58" r="0" b="-15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072285" y="6078436"/>
            <a:ext cx="9001420" cy="40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Database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72285" y="6391866"/>
            <a:ext cx="9001420" cy="464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22" indent="-136506" lvl="3">
              <a:lnSpc>
                <a:spcPts val="2722"/>
              </a:lnSpc>
              <a:buFont typeface="Arial"/>
              <a:buChar char="￭"/>
            </a:pPr>
            <a:r>
              <a:rPr lang="en-US" sz="193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MySQL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841904" y="7234085"/>
            <a:ext cx="9462230" cy="2246566"/>
          </a:xfrm>
          <a:custGeom>
            <a:avLst/>
            <a:gdLst/>
            <a:ahLst/>
            <a:cxnLst/>
            <a:rect r="r" b="b" t="t" l="l"/>
            <a:pathLst>
              <a:path h="2246566" w="9462230">
                <a:moveTo>
                  <a:pt x="0" y="0"/>
                </a:moveTo>
                <a:lnTo>
                  <a:pt x="9462230" y="0"/>
                </a:lnTo>
                <a:lnTo>
                  <a:pt x="9462230" y="2246567"/>
                </a:lnTo>
                <a:lnTo>
                  <a:pt x="0" y="22465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072285" y="7407326"/>
            <a:ext cx="9001420" cy="40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Tools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72285" y="7720755"/>
            <a:ext cx="9001420" cy="149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22" indent="-136506" lvl="3">
              <a:lnSpc>
                <a:spcPts val="2722"/>
              </a:lnSpc>
              <a:buFont typeface="Arial"/>
              <a:buChar char="￭"/>
            </a:pPr>
            <a:r>
              <a:rPr lang="en-US" sz="193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GitHub</a:t>
            </a:r>
          </a:p>
          <a:p>
            <a:pPr algn="l" marL="546022" indent="-136506" lvl="3">
              <a:lnSpc>
                <a:spcPts val="2722"/>
              </a:lnSpc>
              <a:buFont typeface="Arial"/>
              <a:buChar char="￭"/>
            </a:pPr>
            <a:r>
              <a:rPr lang="en-US" sz="193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Figma</a:t>
            </a:r>
          </a:p>
          <a:p>
            <a:pPr algn="l" marL="546022" indent="-136506" lvl="3">
              <a:lnSpc>
                <a:spcPts val="2722"/>
              </a:lnSpc>
              <a:buFont typeface="Arial"/>
              <a:buChar char="￭"/>
            </a:pPr>
            <a:r>
              <a:rPr lang="en-US" sz="193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Draw.io</a:t>
            </a:r>
          </a:p>
          <a:p>
            <a:pPr algn="l" marL="546022" indent="-136506" lvl="3">
              <a:lnSpc>
                <a:spcPts val="2722"/>
              </a:lnSpc>
              <a:buFont typeface="Arial"/>
              <a:buChar char="￭"/>
            </a:pPr>
            <a:r>
              <a:rPr lang="en-US" sz="193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Postman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6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93934" y="112338"/>
            <a:ext cx="6586928" cy="55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1"/>
              </a:lnSpc>
            </a:pPr>
            <a:r>
              <a:rPr lang="en-US" sz="359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Development Methodology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636975"/>
            <a:ext cx="9525476" cy="9688640"/>
            <a:chOff x="0" y="0"/>
            <a:chExt cx="12700635" cy="1291818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700635" cy="12918186"/>
            </a:xfrm>
            <a:custGeom>
              <a:avLst/>
              <a:gdLst/>
              <a:ahLst/>
              <a:cxnLst/>
              <a:rect r="r" b="b" t="t" l="l"/>
              <a:pathLst>
                <a:path h="12918186" w="12700635">
                  <a:moveTo>
                    <a:pt x="0" y="0"/>
                  </a:moveTo>
                  <a:lnTo>
                    <a:pt x="12700635" y="0"/>
                  </a:lnTo>
                  <a:lnTo>
                    <a:pt x="12700635" y="12918186"/>
                  </a:lnTo>
                  <a:lnTo>
                    <a:pt x="0" y="12918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56" t="0" r="-856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400909" y="2148030"/>
            <a:ext cx="7146284" cy="534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Why Agile?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00909" y="3132868"/>
            <a:ext cx="7146284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29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Agile methodology enables our team to deliver working increments rapidly, respond to feedback, and adapt to changing requirements throughout the project lifecycle.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45369" y="10386050"/>
            <a:ext cx="212522" cy="212522"/>
          </a:xfrm>
          <a:custGeom>
            <a:avLst/>
            <a:gdLst/>
            <a:ahLst/>
            <a:cxnLst/>
            <a:rect r="r" b="b" t="t" l="l"/>
            <a:pathLst>
              <a:path h="212522" w="212522">
                <a:moveTo>
                  <a:pt x="0" y="0"/>
                </a:moveTo>
                <a:lnTo>
                  <a:pt x="212522" y="0"/>
                </a:lnTo>
                <a:lnTo>
                  <a:pt x="212522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694" t="0" r="-869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52858" y="10350398"/>
            <a:ext cx="4914748" cy="19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Short sprints with clear deliverables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6509299" y="10386050"/>
            <a:ext cx="212522" cy="212522"/>
          </a:xfrm>
          <a:custGeom>
            <a:avLst/>
            <a:gdLst/>
            <a:ahLst/>
            <a:cxnLst/>
            <a:rect r="r" b="b" t="t" l="l"/>
            <a:pathLst>
              <a:path h="212522" w="212522">
                <a:moveTo>
                  <a:pt x="0" y="0"/>
                </a:moveTo>
                <a:lnTo>
                  <a:pt x="212522" y="0"/>
                </a:lnTo>
                <a:lnTo>
                  <a:pt x="212522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694" t="0" r="-8694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916788" y="10350398"/>
            <a:ext cx="4914900" cy="19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Continuous testing integrated at each stage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1973373" y="10386050"/>
            <a:ext cx="212522" cy="212522"/>
          </a:xfrm>
          <a:custGeom>
            <a:avLst/>
            <a:gdLst/>
            <a:ahLst/>
            <a:cxnLst/>
            <a:rect r="r" b="b" t="t" l="l"/>
            <a:pathLst>
              <a:path h="212522" w="212522">
                <a:moveTo>
                  <a:pt x="0" y="0"/>
                </a:moveTo>
                <a:lnTo>
                  <a:pt x="212521" y="0"/>
                </a:lnTo>
                <a:lnTo>
                  <a:pt x="212521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694" t="0" r="-8694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380862" y="10350398"/>
            <a:ext cx="4914748" cy="19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Regular team reviews and retrospectives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6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26684" y="56998"/>
            <a:ext cx="4889897" cy="87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Project Timeline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6684" y="993724"/>
            <a:ext cx="17217923" cy="1728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5"/>
              </a:lnSpc>
            </a:pPr>
            <a:r>
              <a:rPr lang="en-US" sz="36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 phased rollout ensures each component is built, tested, and validated before moving to the next stage.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6483106"/>
            <a:ext cx="16303562" cy="38100"/>
            <a:chOff x="0" y="0"/>
            <a:chExt cx="21738082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8082" cy="50800"/>
            </a:xfrm>
            <a:custGeom>
              <a:avLst/>
              <a:gdLst/>
              <a:ahLst/>
              <a:cxnLst/>
              <a:rect r="r" b="b" t="t" l="l"/>
              <a:pathLst>
                <a:path h="50800" w="21738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175692" y="5632552"/>
            <a:ext cx="38100" cy="850582"/>
            <a:chOff x="0" y="0"/>
            <a:chExt cx="50800" cy="11341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" cy="1134110"/>
            </a:xfrm>
            <a:custGeom>
              <a:avLst/>
              <a:gdLst/>
              <a:ahLst/>
              <a:cxnLst/>
              <a:rect r="r" b="b" t="t" l="l"/>
              <a:pathLst>
                <a:path h="113411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867473" y="6155827"/>
            <a:ext cx="654558" cy="654558"/>
          </a:xfrm>
          <a:custGeom>
            <a:avLst/>
            <a:gdLst/>
            <a:ahLst/>
            <a:cxnLst/>
            <a:rect r="r" b="b" t="t" l="l"/>
            <a:pathLst>
              <a:path h="654558" w="654558">
                <a:moveTo>
                  <a:pt x="0" y="0"/>
                </a:moveTo>
                <a:lnTo>
                  <a:pt x="654558" y="0"/>
                </a:lnTo>
                <a:lnTo>
                  <a:pt x="654558" y="654558"/>
                </a:lnTo>
                <a:lnTo>
                  <a:pt x="0" y="654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982144" y="6217291"/>
            <a:ext cx="425196" cy="531590"/>
            <a:chOff x="0" y="0"/>
            <a:chExt cx="566928" cy="7087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519" t="0" r="-110519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982144" y="6210148"/>
            <a:ext cx="425206" cy="538753"/>
            <a:chOff x="0" y="0"/>
            <a:chExt cx="566941" cy="7183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6928" cy="718312"/>
            </a:xfrm>
            <a:custGeom>
              <a:avLst/>
              <a:gdLst/>
              <a:ahLst/>
              <a:cxnLst/>
              <a:rect r="r" b="b" t="t" l="l"/>
              <a:pathLst>
                <a:path h="718312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18312"/>
                  </a:lnTo>
                  <a:lnTo>
                    <a:pt x="0" y="7183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2681" t="0" r="-112683" b="-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982144" y="6203004"/>
            <a:ext cx="425206" cy="545897"/>
            <a:chOff x="0" y="0"/>
            <a:chExt cx="566941" cy="7278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6941" cy="727862"/>
            </a:xfrm>
            <a:custGeom>
              <a:avLst/>
              <a:gdLst/>
              <a:ahLst/>
              <a:cxnLst/>
              <a:rect r="r" b="b" t="t" l="l"/>
              <a:pathLst>
                <a:path h="727862" w="566941">
                  <a:moveTo>
                    <a:pt x="0" y="0"/>
                  </a:moveTo>
                  <a:lnTo>
                    <a:pt x="566941" y="0"/>
                  </a:lnTo>
                  <a:lnTo>
                    <a:pt x="566941" y="727862"/>
                  </a:lnTo>
                  <a:lnTo>
                    <a:pt x="0" y="72786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14721" t="0" r="-114721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66941" cy="7373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CFD0D8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56700" y="3771605"/>
            <a:ext cx="3837984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Phase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5750" y="4156024"/>
            <a:ext cx="3837984" cy="119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Requirements &amp; Database Design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555304" y="6483106"/>
            <a:ext cx="38100" cy="850582"/>
            <a:chOff x="0" y="0"/>
            <a:chExt cx="50800" cy="1134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800" cy="1134110"/>
            </a:xfrm>
            <a:custGeom>
              <a:avLst/>
              <a:gdLst/>
              <a:ahLst/>
              <a:cxnLst/>
              <a:rect r="r" b="b" t="t" l="l"/>
              <a:pathLst>
                <a:path h="113411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5247084" y="6155827"/>
            <a:ext cx="654558" cy="654558"/>
          </a:xfrm>
          <a:custGeom>
            <a:avLst/>
            <a:gdLst/>
            <a:ahLst/>
            <a:cxnLst/>
            <a:rect r="r" b="b" t="t" l="l"/>
            <a:pathLst>
              <a:path h="654558" w="654558">
                <a:moveTo>
                  <a:pt x="0" y="0"/>
                </a:moveTo>
                <a:lnTo>
                  <a:pt x="654558" y="0"/>
                </a:lnTo>
                <a:lnTo>
                  <a:pt x="654558" y="654558"/>
                </a:lnTo>
                <a:lnTo>
                  <a:pt x="0" y="654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5380796" y="6255401"/>
            <a:ext cx="425196" cy="531590"/>
            <a:chOff x="0" y="0"/>
            <a:chExt cx="566928" cy="70878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519" t="0" r="-110519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380796" y="6248257"/>
            <a:ext cx="425206" cy="538753"/>
            <a:chOff x="0" y="0"/>
            <a:chExt cx="566941" cy="7183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6928" cy="718312"/>
            </a:xfrm>
            <a:custGeom>
              <a:avLst/>
              <a:gdLst/>
              <a:ahLst/>
              <a:cxnLst/>
              <a:rect r="r" b="b" t="t" l="l"/>
              <a:pathLst>
                <a:path h="718312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18312"/>
                  </a:lnTo>
                  <a:lnTo>
                    <a:pt x="0" y="7183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2681" t="0" r="-112683" b="-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380796" y="6241113"/>
            <a:ext cx="425206" cy="545897"/>
            <a:chOff x="0" y="0"/>
            <a:chExt cx="566941" cy="7278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6941" cy="727862"/>
            </a:xfrm>
            <a:custGeom>
              <a:avLst/>
              <a:gdLst/>
              <a:ahLst/>
              <a:cxnLst/>
              <a:rect r="r" b="b" t="t" l="l"/>
              <a:pathLst>
                <a:path h="727862" w="566941">
                  <a:moveTo>
                    <a:pt x="0" y="0"/>
                  </a:moveTo>
                  <a:lnTo>
                    <a:pt x="566941" y="0"/>
                  </a:lnTo>
                  <a:lnTo>
                    <a:pt x="566941" y="727862"/>
                  </a:lnTo>
                  <a:lnTo>
                    <a:pt x="0" y="72786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14721" t="0" r="-11472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66941" cy="7373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CFD0D8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655371" y="7560021"/>
            <a:ext cx="3837984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Phase 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655371" y="7944450"/>
            <a:ext cx="3837984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Dashboard &amp; Admin Module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935068" y="5632552"/>
            <a:ext cx="38100" cy="850582"/>
            <a:chOff x="0" y="0"/>
            <a:chExt cx="50800" cy="11341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" cy="1134110"/>
            </a:xfrm>
            <a:custGeom>
              <a:avLst/>
              <a:gdLst/>
              <a:ahLst/>
              <a:cxnLst/>
              <a:rect r="r" b="b" t="t" l="l"/>
              <a:pathLst>
                <a:path h="113411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7626848" y="6155827"/>
            <a:ext cx="654558" cy="654558"/>
          </a:xfrm>
          <a:custGeom>
            <a:avLst/>
            <a:gdLst/>
            <a:ahLst/>
            <a:cxnLst/>
            <a:rect r="r" b="b" t="t" l="l"/>
            <a:pathLst>
              <a:path h="654558" w="654558">
                <a:moveTo>
                  <a:pt x="0" y="0"/>
                </a:moveTo>
                <a:lnTo>
                  <a:pt x="654558" y="0"/>
                </a:lnTo>
                <a:lnTo>
                  <a:pt x="654558" y="654558"/>
                </a:lnTo>
                <a:lnTo>
                  <a:pt x="0" y="654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7741520" y="6217291"/>
            <a:ext cx="425196" cy="531590"/>
            <a:chOff x="0" y="0"/>
            <a:chExt cx="566928" cy="70878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519" t="0" r="-110519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741520" y="6210148"/>
            <a:ext cx="425206" cy="538753"/>
            <a:chOff x="0" y="0"/>
            <a:chExt cx="566941" cy="71833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66928" cy="718312"/>
            </a:xfrm>
            <a:custGeom>
              <a:avLst/>
              <a:gdLst/>
              <a:ahLst/>
              <a:cxnLst/>
              <a:rect r="r" b="b" t="t" l="l"/>
              <a:pathLst>
                <a:path h="718312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18312"/>
                  </a:lnTo>
                  <a:lnTo>
                    <a:pt x="0" y="7183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2681" t="0" r="-112683" b="-3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741520" y="6203004"/>
            <a:ext cx="425206" cy="545897"/>
            <a:chOff x="0" y="0"/>
            <a:chExt cx="566941" cy="72786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6941" cy="727862"/>
            </a:xfrm>
            <a:custGeom>
              <a:avLst/>
              <a:gdLst/>
              <a:ahLst/>
              <a:cxnLst/>
              <a:rect r="r" b="b" t="t" l="l"/>
              <a:pathLst>
                <a:path h="727862" w="566941">
                  <a:moveTo>
                    <a:pt x="0" y="0"/>
                  </a:moveTo>
                  <a:lnTo>
                    <a:pt x="566941" y="0"/>
                  </a:lnTo>
                  <a:lnTo>
                    <a:pt x="566941" y="727862"/>
                  </a:lnTo>
                  <a:lnTo>
                    <a:pt x="0" y="72786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14721" t="0" r="-11472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566941" cy="7373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CFD0D8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6035126" y="3771605"/>
            <a:ext cx="3837984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Phase 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035126" y="4156024"/>
            <a:ext cx="3837984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Transaction Module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0314680" y="6483106"/>
            <a:ext cx="38100" cy="850582"/>
            <a:chOff x="0" y="0"/>
            <a:chExt cx="50800" cy="113411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0800" cy="1134110"/>
            </a:xfrm>
            <a:custGeom>
              <a:avLst/>
              <a:gdLst/>
              <a:ahLst/>
              <a:cxnLst/>
              <a:rect r="r" b="b" t="t" l="l"/>
              <a:pathLst>
                <a:path h="113411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10006460" y="6155827"/>
            <a:ext cx="654558" cy="654558"/>
          </a:xfrm>
          <a:custGeom>
            <a:avLst/>
            <a:gdLst/>
            <a:ahLst/>
            <a:cxnLst/>
            <a:rect r="r" b="b" t="t" l="l"/>
            <a:pathLst>
              <a:path h="654558" w="654558">
                <a:moveTo>
                  <a:pt x="0" y="0"/>
                </a:moveTo>
                <a:lnTo>
                  <a:pt x="654558" y="0"/>
                </a:lnTo>
                <a:lnTo>
                  <a:pt x="654558" y="654558"/>
                </a:lnTo>
                <a:lnTo>
                  <a:pt x="0" y="654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0121132" y="6217291"/>
            <a:ext cx="425196" cy="531590"/>
            <a:chOff x="0" y="0"/>
            <a:chExt cx="566928" cy="70878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519" t="0" r="-110519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121132" y="6210148"/>
            <a:ext cx="425206" cy="538753"/>
            <a:chOff x="0" y="0"/>
            <a:chExt cx="566941" cy="71833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6928" cy="718312"/>
            </a:xfrm>
            <a:custGeom>
              <a:avLst/>
              <a:gdLst/>
              <a:ahLst/>
              <a:cxnLst/>
              <a:rect r="r" b="b" t="t" l="l"/>
              <a:pathLst>
                <a:path h="718312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18312"/>
                  </a:lnTo>
                  <a:lnTo>
                    <a:pt x="0" y="7183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2681" t="0" r="-112683" b="-3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121132" y="6203004"/>
            <a:ext cx="425206" cy="545897"/>
            <a:chOff x="0" y="0"/>
            <a:chExt cx="566941" cy="72786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66941" cy="727862"/>
            </a:xfrm>
            <a:custGeom>
              <a:avLst/>
              <a:gdLst/>
              <a:ahLst/>
              <a:cxnLst/>
              <a:rect r="r" b="b" t="t" l="l"/>
              <a:pathLst>
                <a:path h="727862" w="566941">
                  <a:moveTo>
                    <a:pt x="0" y="0"/>
                  </a:moveTo>
                  <a:lnTo>
                    <a:pt x="566941" y="0"/>
                  </a:lnTo>
                  <a:lnTo>
                    <a:pt x="566941" y="727862"/>
                  </a:lnTo>
                  <a:lnTo>
                    <a:pt x="0" y="72786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14721" t="0" r="-11472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566941" cy="7373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CFD0D8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8414737" y="7560021"/>
            <a:ext cx="3837984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Phase 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414737" y="7944450"/>
            <a:ext cx="3837984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Fraud Detection Engine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694444" y="5632552"/>
            <a:ext cx="38100" cy="850582"/>
            <a:chOff x="0" y="0"/>
            <a:chExt cx="50800" cy="113411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0800" cy="1134110"/>
            </a:xfrm>
            <a:custGeom>
              <a:avLst/>
              <a:gdLst/>
              <a:ahLst/>
              <a:cxnLst/>
              <a:rect r="r" b="b" t="t" l="l"/>
              <a:pathLst>
                <a:path h="113411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Freeform 60" id="60"/>
          <p:cNvSpPr/>
          <p:nvPr/>
        </p:nvSpPr>
        <p:spPr>
          <a:xfrm flipH="false" flipV="false" rot="0">
            <a:off x="12386224" y="6155827"/>
            <a:ext cx="654558" cy="654558"/>
          </a:xfrm>
          <a:custGeom>
            <a:avLst/>
            <a:gdLst/>
            <a:ahLst/>
            <a:cxnLst/>
            <a:rect r="r" b="b" t="t" l="l"/>
            <a:pathLst>
              <a:path h="654558" w="654558">
                <a:moveTo>
                  <a:pt x="0" y="0"/>
                </a:moveTo>
                <a:lnTo>
                  <a:pt x="654558" y="0"/>
                </a:lnTo>
                <a:lnTo>
                  <a:pt x="654558" y="654558"/>
                </a:lnTo>
                <a:lnTo>
                  <a:pt x="0" y="654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12500896" y="6217291"/>
            <a:ext cx="425196" cy="531590"/>
            <a:chOff x="0" y="0"/>
            <a:chExt cx="566928" cy="70878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519" t="0" r="-110519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500896" y="6210148"/>
            <a:ext cx="425206" cy="538753"/>
            <a:chOff x="0" y="0"/>
            <a:chExt cx="566941" cy="71833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66928" cy="718312"/>
            </a:xfrm>
            <a:custGeom>
              <a:avLst/>
              <a:gdLst/>
              <a:ahLst/>
              <a:cxnLst/>
              <a:rect r="r" b="b" t="t" l="l"/>
              <a:pathLst>
                <a:path h="718312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18312"/>
                  </a:lnTo>
                  <a:lnTo>
                    <a:pt x="0" y="7183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2681" t="0" r="-112683" b="-3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500896" y="6203004"/>
            <a:ext cx="425206" cy="545897"/>
            <a:chOff x="0" y="0"/>
            <a:chExt cx="566941" cy="72786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66941" cy="727862"/>
            </a:xfrm>
            <a:custGeom>
              <a:avLst/>
              <a:gdLst/>
              <a:ahLst/>
              <a:cxnLst/>
              <a:rect r="r" b="b" t="t" l="l"/>
              <a:pathLst>
                <a:path h="727862" w="566941">
                  <a:moveTo>
                    <a:pt x="0" y="0"/>
                  </a:moveTo>
                  <a:lnTo>
                    <a:pt x="566941" y="0"/>
                  </a:lnTo>
                  <a:lnTo>
                    <a:pt x="566941" y="727862"/>
                  </a:lnTo>
                  <a:lnTo>
                    <a:pt x="0" y="72786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14721" t="0" r="-11472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566941" cy="7373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CFD0D8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0794502" y="3771605"/>
            <a:ext cx="3837984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Phase 5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794502" y="4156024"/>
            <a:ext cx="3837984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Reports &amp; Analytics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5074055" y="6483106"/>
            <a:ext cx="38100" cy="850582"/>
            <a:chOff x="0" y="0"/>
            <a:chExt cx="50800" cy="113411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0800" cy="1134110"/>
            </a:xfrm>
            <a:custGeom>
              <a:avLst/>
              <a:gdLst/>
              <a:ahLst/>
              <a:cxnLst/>
              <a:rect r="r" b="b" t="t" l="l"/>
              <a:pathLst>
                <a:path h="113411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Freeform 72" id="72"/>
          <p:cNvSpPr/>
          <p:nvPr/>
        </p:nvSpPr>
        <p:spPr>
          <a:xfrm flipH="false" flipV="false" rot="0">
            <a:off x="14765836" y="6155827"/>
            <a:ext cx="654558" cy="654558"/>
          </a:xfrm>
          <a:custGeom>
            <a:avLst/>
            <a:gdLst/>
            <a:ahLst/>
            <a:cxnLst/>
            <a:rect r="r" b="b" t="t" l="l"/>
            <a:pathLst>
              <a:path h="654558" w="654558">
                <a:moveTo>
                  <a:pt x="0" y="0"/>
                </a:moveTo>
                <a:lnTo>
                  <a:pt x="654558" y="0"/>
                </a:lnTo>
                <a:lnTo>
                  <a:pt x="654558" y="654558"/>
                </a:lnTo>
                <a:lnTo>
                  <a:pt x="0" y="654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4880507" y="6217291"/>
            <a:ext cx="425196" cy="531590"/>
            <a:chOff x="0" y="0"/>
            <a:chExt cx="566928" cy="70878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519" t="0" r="-110519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4880507" y="6210148"/>
            <a:ext cx="425206" cy="538753"/>
            <a:chOff x="0" y="0"/>
            <a:chExt cx="566941" cy="71833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66928" cy="718312"/>
            </a:xfrm>
            <a:custGeom>
              <a:avLst/>
              <a:gdLst/>
              <a:ahLst/>
              <a:cxnLst/>
              <a:rect r="r" b="b" t="t" l="l"/>
              <a:pathLst>
                <a:path h="718312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18312"/>
                  </a:lnTo>
                  <a:lnTo>
                    <a:pt x="0" y="7183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2681" t="0" r="-112683" b="-3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4880507" y="6203004"/>
            <a:ext cx="425206" cy="545897"/>
            <a:chOff x="0" y="0"/>
            <a:chExt cx="566941" cy="72786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66941" cy="727862"/>
            </a:xfrm>
            <a:custGeom>
              <a:avLst/>
              <a:gdLst/>
              <a:ahLst/>
              <a:cxnLst/>
              <a:rect r="r" b="b" t="t" l="l"/>
              <a:pathLst>
                <a:path h="727862" w="566941">
                  <a:moveTo>
                    <a:pt x="0" y="0"/>
                  </a:moveTo>
                  <a:lnTo>
                    <a:pt x="566941" y="0"/>
                  </a:lnTo>
                  <a:lnTo>
                    <a:pt x="566941" y="727862"/>
                  </a:lnTo>
                  <a:lnTo>
                    <a:pt x="0" y="72786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14721" t="0" r="-114721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566941" cy="7373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CFD0D8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3174113" y="7560021"/>
            <a:ext cx="3837984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Phase 6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174113" y="7944450"/>
            <a:ext cx="3837984" cy="73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Testing &amp; Final Deployment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6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07679"/>
            <a:ext cx="374808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Risk Analysis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0470" y="3258601"/>
            <a:ext cx="12538464" cy="95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2581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Every project carries risk. We've identified key challenges and defined clear mitigation strategies to keep the project on track.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6993284"/>
            <a:ext cx="5295005" cy="2500312"/>
          </a:xfrm>
          <a:custGeom>
            <a:avLst/>
            <a:gdLst/>
            <a:ahLst/>
            <a:cxnLst/>
            <a:rect r="r" b="b" t="t" l="l"/>
            <a:pathLst>
              <a:path h="2500312" w="5295005">
                <a:moveTo>
                  <a:pt x="0" y="0"/>
                </a:moveTo>
                <a:lnTo>
                  <a:pt x="5295005" y="0"/>
                </a:lnTo>
                <a:lnTo>
                  <a:pt x="5295005" y="2500312"/>
                </a:lnTo>
                <a:lnTo>
                  <a:pt x="0" y="2500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6" r="0" b="-8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78744" y="7208339"/>
            <a:ext cx="4636294" cy="41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4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⚠️</a:t>
            </a:r>
            <a:r>
              <a:rPr lang="en-US" sz="2400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 False Positives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8744" y="7571775"/>
            <a:ext cx="4636294" cy="168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Overly strict rules may flag legitimate transactions. </a:t>
            </a:r>
            <a:r>
              <a:rPr lang="en-US" sz="2100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Mitigation:</a:t>
            </a:r>
            <a:r>
              <a:rPr lang="en-US" sz="21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Iteratively refine detection rules using test data and admin feedback.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6496498" y="6993284"/>
            <a:ext cx="5295005" cy="2500312"/>
          </a:xfrm>
          <a:custGeom>
            <a:avLst/>
            <a:gdLst/>
            <a:ahLst/>
            <a:cxnLst/>
            <a:rect r="r" b="b" t="t" l="l"/>
            <a:pathLst>
              <a:path h="2500312" w="5295005">
                <a:moveTo>
                  <a:pt x="0" y="0"/>
                </a:moveTo>
                <a:lnTo>
                  <a:pt x="5295004" y="0"/>
                </a:lnTo>
                <a:lnTo>
                  <a:pt x="5295004" y="2500312"/>
                </a:lnTo>
                <a:lnTo>
                  <a:pt x="0" y="2500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6" r="0" b="-86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83003" y="7208339"/>
            <a:ext cx="4636294" cy="41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4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⚠️</a:t>
            </a:r>
            <a:r>
              <a:rPr lang="en-US" sz="2400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 Data Breach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89750" y="7572985"/>
            <a:ext cx="4636294" cy="168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Sensitive financial data is a high-value target. </a:t>
            </a:r>
            <a:r>
              <a:rPr lang="en-US" sz="2100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Mitigation:</a:t>
            </a:r>
            <a:r>
              <a:rPr lang="en-US" sz="21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End-to-end encryption, parameterized queries, and strict access controls.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2000757" y="6993284"/>
            <a:ext cx="5295005" cy="2500312"/>
          </a:xfrm>
          <a:custGeom>
            <a:avLst/>
            <a:gdLst/>
            <a:ahLst/>
            <a:cxnLst/>
            <a:rect r="r" b="b" t="t" l="l"/>
            <a:pathLst>
              <a:path h="2500312" w="5295005">
                <a:moveTo>
                  <a:pt x="0" y="0"/>
                </a:moveTo>
                <a:lnTo>
                  <a:pt x="5295005" y="0"/>
                </a:lnTo>
                <a:lnTo>
                  <a:pt x="5295005" y="2500312"/>
                </a:lnTo>
                <a:lnTo>
                  <a:pt x="0" y="2500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6" r="0" b="-86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387262" y="7208339"/>
            <a:ext cx="4636294" cy="41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4"/>
              </a:lnSpc>
            </a:pPr>
            <a:r>
              <a:rPr lang="en-US" sz="2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⚠️</a:t>
            </a:r>
            <a:r>
              <a:rPr lang="en-US" sz="2400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 Time Constraints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87262" y="7571775"/>
            <a:ext cx="4636294" cy="168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Academic deadlines may limit scope. </a:t>
            </a:r>
            <a:r>
              <a:rPr lang="en-US" sz="2100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Mitigation:</a:t>
            </a:r>
            <a:r>
              <a:rPr lang="en-US" sz="21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Agile sprints with prioritized MVP features and buffer time built in.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6588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96" cy="512064"/>
            <a:chOff x="0" y="0"/>
            <a:chExt cx="2858262" cy="682752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8" r="0" b="-20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94380"/>
            <a:ext cx="16303523" cy="715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Evaluation Criteria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077077"/>
            <a:ext cx="17217923" cy="71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5"/>
              </a:lnSpc>
            </a:pPr>
            <a:r>
              <a:rPr lang="en-US" sz="29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This system delivers measurable improvements across security, efficiency, and trust.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52205" y="2595210"/>
            <a:ext cx="5326380" cy="2180272"/>
          </a:xfrm>
          <a:custGeom>
            <a:avLst/>
            <a:gdLst/>
            <a:ahLst/>
            <a:cxnLst/>
            <a:rect r="r" b="b" t="t" l="l"/>
            <a:pathLst>
              <a:path h="2180272" w="5326380">
                <a:moveTo>
                  <a:pt x="0" y="0"/>
                </a:moveTo>
                <a:lnTo>
                  <a:pt x="5326380" y="0"/>
                </a:lnTo>
                <a:lnTo>
                  <a:pt x="5326380" y="2180273"/>
                </a:lnTo>
                <a:lnTo>
                  <a:pt x="0" y="2180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9" t="0" r="-49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32002" y="2760459"/>
            <a:ext cx="691039" cy="691039"/>
            <a:chOff x="0" y="0"/>
            <a:chExt cx="921385" cy="9213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1385" cy="921385"/>
            </a:xfrm>
            <a:custGeom>
              <a:avLst/>
              <a:gdLst/>
              <a:ahLst/>
              <a:cxnLst/>
              <a:rect r="r" b="b" t="t" l="l"/>
              <a:pathLst>
                <a:path h="921385" w="921385">
                  <a:moveTo>
                    <a:pt x="0" y="460629"/>
                  </a:moveTo>
                  <a:cubicBezTo>
                    <a:pt x="0" y="206248"/>
                    <a:pt x="206248" y="0"/>
                    <a:pt x="460629" y="0"/>
                  </a:cubicBezTo>
                  <a:cubicBezTo>
                    <a:pt x="715010" y="0"/>
                    <a:pt x="921385" y="206248"/>
                    <a:pt x="921385" y="460629"/>
                  </a:cubicBezTo>
                  <a:cubicBezTo>
                    <a:pt x="921385" y="715010"/>
                    <a:pt x="715137" y="921385"/>
                    <a:pt x="460629" y="921385"/>
                  </a:cubicBezTo>
                  <a:cubicBezTo>
                    <a:pt x="206121" y="921385"/>
                    <a:pt x="0" y="715137"/>
                    <a:pt x="0" y="460629"/>
                  </a:cubicBez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1422054" y="2950369"/>
            <a:ext cx="310906" cy="310906"/>
          </a:xfrm>
          <a:custGeom>
            <a:avLst/>
            <a:gdLst/>
            <a:ahLst/>
            <a:cxnLst/>
            <a:rect r="r" b="b" t="t" l="l"/>
            <a:pathLst>
              <a:path h="310906" w="310906">
                <a:moveTo>
                  <a:pt x="0" y="0"/>
                </a:moveTo>
                <a:lnTo>
                  <a:pt x="310905" y="0"/>
                </a:lnTo>
                <a:lnTo>
                  <a:pt x="310905" y="310905"/>
                </a:lnTo>
                <a:lnTo>
                  <a:pt x="0" y="3109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0606" r="0" b="-1060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35143" y="2931319"/>
            <a:ext cx="3334198" cy="4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Functionality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4983" y="3782282"/>
            <a:ext cx="4830213" cy="7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21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All spe</a:t>
            </a:r>
            <a:r>
              <a:rPr lang="en-US" sz="21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cified modules operate correctly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80724" y="2512371"/>
            <a:ext cx="5326380" cy="2180272"/>
          </a:xfrm>
          <a:custGeom>
            <a:avLst/>
            <a:gdLst/>
            <a:ahLst/>
            <a:cxnLst/>
            <a:rect r="r" b="b" t="t" l="l"/>
            <a:pathLst>
              <a:path h="2180272" w="5326380">
                <a:moveTo>
                  <a:pt x="0" y="0"/>
                </a:moveTo>
                <a:lnTo>
                  <a:pt x="5326380" y="0"/>
                </a:lnTo>
                <a:lnTo>
                  <a:pt x="5326380" y="2180273"/>
                </a:lnTo>
                <a:lnTo>
                  <a:pt x="0" y="2180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9" t="0" r="-49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728822" y="2760459"/>
            <a:ext cx="691039" cy="691039"/>
            <a:chOff x="0" y="0"/>
            <a:chExt cx="921385" cy="9213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1385" cy="921385"/>
            </a:xfrm>
            <a:custGeom>
              <a:avLst/>
              <a:gdLst/>
              <a:ahLst/>
              <a:cxnLst/>
              <a:rect r="r" b="b" t="t" l="l"/>
              <a:pathLst>
                <a:path h="921385" w="921385">
                  <a:moveTo>
                    <a:pt x="0" y="460629"/>
                  </a:moveTo>
                  <a:cubicBezTo>
                    <a:pt x="0" y="206248"/>
                    <a:pt x="206248" y="0"/>
                    <a:pt x="460629" y="0"/>
                  </a:cubicBezTo>
                  <a:cubicBezTo>
                    <a:pt x="715010" y="0"/>
                    <a:pt x="921385" y="206248"/>
                    <a:pt x="921385" y="460629"/>
                  </a:cubicBezTo>
                  <a:cubicBezTo>
                    <a:pt x="921385" y="715010"/>
                    <a:pt x="715137" y="921385"/>
                    <a:pt x="460629" y="921385"/>
                  </a:cubicBezTo>
                  <a:cubicBezTo>
                    <a:pt x="206121" y="921385"/>
                    <a:pt x="0" y="715137"/>
                    <a:pt x="0" y="460629"/>
                  </a:cubicBez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6918874" y="2950369"/>
            <a:ext cx="310906" cy="310906"/>
          </a:xfrm>
          <a:custGeom>
            <a:avLst/>
            <a:gdLst/>
            <a:ahLst/>
            <a:cxnLst/>
            <a:rect r="r" b="b" t="t" l="l"/>
            <a:pathLst>
              <a:path h="310906" w="310906">
                <a:moveTo>
                  <a:pt x="0" y="0"/>
                </a:moveTo>
                <a:lnTo>
                  <a:pt x="310906" y="0"/>
                </a:lnTo>
                <a:lnTo>
                  <a:pt x="310906" y="310905"/>
                </a:lnTo>
                <a:lnTo>
                  <a:pt x="0" y="3109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3332" r="0" b="-33335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537654" y="2954953"/>
            <a:ext cx="4127092" cy="4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Fraud Detection Accuracy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28889" y="3758203"/>
            <a:ext cx="4830213" cy="901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21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Real-time alerts replace slow manual reviews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977535" y="2512371"/>
            <a:ext cx="5326380" cy="2180272"/>
          </a:xfrm>
          <a:custGeom>
            <a:avLst/>
            <a:gdLst/>
            <a:ahLst/>
            <a:cxnLst/>
            <a:rect r="r" b="b" t="t" l="l"/>
            <a:pathLst>
              <a:path h="2180272" w="5326380">
                <a:moveTo>
                  <a:pt x="0" y="0"/>
                </a:moveTo>
                <a:lnTo>
                  <a:pt x="5326380" y="0"/>
                </a:lnTo>
                <a:lnTo>
                  <a:pt x="5326380" y="2180273"/>
                </a:lnTo>
                <a:lnTo>
                  <a:pt x="0" y="2180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9" t="0" r="-49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2225633" y="2760459"/>
            <a:ext cx="691039" cy="691039"/>
            <a:chOff x="0" y="0"/>
            <a:chExt cx="921385" cy="9213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1385" cy="921385"/>
            </a:xfrm>
            <a:custGeom>
              <a:avLst/>
              <a:gdLst/>
              <a:ahLst/>
              <a:cxnLst/>
              <a:rect r="r" b="b" t="t" l="l"/>
              <a:pathLst>
                <a:path h="921385" w="921385">
                  <a:moveTo>
                    <a:pt x="0" y="460629"/>
                  </a:moveTo>
                  <a:cubicBezTo>
                    <a:pt x="0" y="206248"/>
                    <a:pt x="206248" y="0"/>
                    <a:pt x="460629" y="0"/>
                  </a:cubicBezTo>
                  <a:cubicBezTo>
                    <a:pt x="715010" y="0"/>
                    <a:pt x="921385" y="206248"/>
                    <a:pt x="921385" y="460629"/>
                  </a:cubicBezTo>
                  <a:cubicBezTo>
                    <a:pt x="921385" y="715010"/>
                    <a:pt x="715137" y="921385"/>
                    <a:pt x="460629" y="921385"/>
                  </a:cubicBezTo>
                  <a:cubicBezTo>
                    <a:pt x="206121" y="921385"/>
                    <a:pt x="0" y="715137"/>
                    <a:pt x="0" y="460629"/>
                  </a:cubicBez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2415685" y="2950369"/>
            <a:ext cx="310906" cy="310906"/>
          </a:xfrm>
          <a:custGeom>
            <a:avLst/>
            <a:gdLst/>
            <a:ahLst/>
            <a:cxnLst/>
            <a:rect r="r" b="b" t="t" l="l"/>
            <a:pathLst>
              <a:path h="310906" w="310906">
                <a:moveTo>
                  <a:pt x="0" y="0"/>
                </a:moveTo>
                <a:lnTo>
                  <a:pt x="310906" y="0"/>
                </a:lnTo>
                <a:lnTo>
                  <a:pt x="310906" y="310905"/>
                </a:lnTo>
                <a:lnTo>
                  <a:pt x="0" y="3109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7576" r="0" b="-7576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440799" y="2840599"/>
            <a:ext cx="2399852" cy="8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Usabili</a:t>
            </a:r>
            <a:r>
              <a:rPr lang="en-US" sz="25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ty and Performance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25633" y="3939178"/>
            <a:ext cx="4830213" cy="7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21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system responds within acceptable time 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52205" y="5798639"/>
            <a:ext cx="8074819" cy="2437447"/>
          </a:xfrm>
          <a:custGeom>
            <a:avLst/>
            <a:gdLst/>
            <a:ahLst/>
            <a:cxnLst/>
            <a:rect r="r" b="b" t="t" l="l"/>
            <a:pathLst>
              <a:path h="2437447" w="8074819">
                <a:moveTo>
                  <a:pt x="0" y="0"/>
                </a:moveTo>
                <a:lnTo>
                  <a:pt x="8074818" y="0"/>
                </a:lnTo>
                <a:lnTo>
                  <a:pt x="8074818" y="2437448"/>
                </a:lnTo>
                <a:lnTo>
                  <a:pt x="0" y="24374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4" r="0" b="-5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232002" y="5111201"/>
            <a:ext cx="691039" cy="691039"/>
            <a:chOff x="0" y="0"/>
            <a:chExt cx="921385" cy="92138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21385" cy="921385"/>
            </a:xfrm>
            <a:custGeom>
              <a:avLst/>
              <a:gdLst/>
              <a:ahLst/>
              <a:cxnLst/>
              <a:rect r="r" b="b" t="t" l="l"/>
              <a:pathLst>
                <a:path h="921385" w="921385">
                  <a:moveTo>
                    <a:pt x="0" y="460629"/>
                  </a:moveTo>
                  <a:cubicBezTo>
                    <a:pt x="0" y="206248"/>
                    <a:pt x="206248" y="0"/>
                    <a:pt x="460629" y="0"/>
                  </a:cubicBezTo>
                  <a:cubicBezTo>
                    <a:pt x="715010" y="0"/>
                    <a:pt x="921385" y="206248"/>
                    <a:pt x="921385" y="460629"/>
                  </a:cubicBezTo>
                  <a:cubicBezTo>
                    <a:pt x="921385" y="715010"/>
                    <a:pt x="715137" y="921385"/>
                    <a:pt x="460629" y="921385"/>
                  </a:cubicBezTo>
                  <a:cubicBezTo>
                    <a:pt x="206121" y="921385"/>
                    <a:pt x="0" y="715137"/>
                    <a:pt x="0" y="460629"/>
                  </a:cubicBez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1422054" y="5301110"/>
            <a:ext cx="310906" cy="310906"/>
          </a:xfrm>
          <a:custGeom>
            <a:avLst/>
            <a:gdLst/>
            <a:ahLst/>
            <a:cxnLst/>
            <a:rect r="r" b="b" t="t" l="l"/>
            <a:pathLst>
              <a:path h="310906" w="310906">
                <a:moveTo>
                  <a:pt x="0" y="0"/>
                </a:moveTo>
                <a:lnTo>
                  <a:pt x="310905" y="0"/>
                </a:lnTo>
                <a:lnTo>
                  <a:pt x="310905" y="310906"/>
                </a:lnTo>
                <a:lnTo>
                  <a:pt x="0" y="3109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5759" t="0" r="-25755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32002" y="5932141"/>
            <a:ext cx="3469186" cy="4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Reduced Financial Loss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0302" y="6669986"/>
            <a:ext cx="7578623" cy="54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9"/>
              </a:lnSpc>
            </a:pPr>
            <a:r>
              <a:rPr lang="en-US" sz="22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Early interception of fraudulent transactions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296029" y="5798639"/>
            <a:ext cx="8074819" cy="2389822"/>
          </a:xfrm>
          <a:custGeom>
            <a:avLst/>
            <a:gdLst/>
            <a:ahLst/>
            <a:cxnLst/>
            <a:rect r="r" b="b" t="t" l="l"/>
            <a:pathLst>
              <a:path h="2389822" w="8074819">
                <a:moveTo>
                  <a:pt x="0" y="0"/>
                </a:moveTo>
                <a:lnTo>
                  <a:pt x="8074818" y="0"/>
                </a:lnTo>
                <a:lnTo>
                  <a:pt x="8074818" y="2389823"/>
                </a:lnTo>
                <a:lnTo>
                  <a:pt x="0" y="238982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5" r="0" b="-5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9477223" y="5111201"/>
            <a:ext cx="691039" cy="691039"/>
            <a:chOff x="0" y="0"/>
            <a:chExt cx="921385" cy="92138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1385" cy="921385"/>
            </a:xfrm>
            <a:custGeom>
              <a:avLst/>
              <a:gdLst/>
              <a:ahLst/>
              <a:cxnLst/>
              <a:rect r="r" b="b" t="t" l="l"/>
              <a:pathLst>
                <a:path h="921385" w="921385">
                  <a:moveTo>
                    <a:pt x="0" y="460629"/>
                  </a:moveTo>
                  <a:cubicBezTo>
                    <a:pt x="0" y="206248"/>
                    <a:pt x="206248" y="0"/>
                    <a:pt x="460629" y="0"/>
                  </a:cubicBezTo>
                  <a:cubicBezTo>
                    <a:pt x="715010" y="0"/>
                    <a:pt x="921385" y="206248"/>
                    <a:pt x="921385" y="460629"/>
                  </a:cubicBezTo>
                  <a:cubicBezTo>
                    <a:pt x="921385" y="715010"/>
                    <a:pt x="715137" y="921385"/>
                    <a:pt x="460629" y="921385"/>
                  </a:cubicBezTo>
                  <a:cubicBezTo>
                    <a:pt x="206121" y="921385"/>
                    <a:pt x="0" y="715137"/>
                    <a:pt x="0" y="460629"/>
                  </a:cubicBez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name="Freeform 37" id="37" descr="preencoded.png"/>
          <p:cNvSpPr/>
          <p:nvPr/>
        </p:nvSpPr>
        <p:spPr>
          <a:xfrm flipH="false" flipV="false" rot="0">
            <a:off x="9667284" y="5301110"/>
            <a:ext cx="310906" cy="310906"/>
          </a:xfrm>
          <a:custGeom>
            <a:avLst/>
            <a:gdLst/>
            <a:ahLst/>
            <a:cxnLst/>
            <a:rect r="r" b="b" t="t" l="l"/>
            <a:pathLst>
              <a:path h="310906" w="310906">
                <a:moveTo>
                  <a:pt x="0" y="0"/>
                </a:moveTo>
                <a:lnTo>
                  <a:pt x="310906" y="0"/>
                </a:lnTo>
                <a:lnTo>
                  <a:pt x="310906" y="310906"/>
                </a:lnTo>
                <a:lnTo>
                  <a:pt x="0" y="31090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4546" r="0" b="-4543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9477223" y="5932141"/>
            <a:ext cx="3756870" cy="4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Improved Customer Trust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77223" y="6289919"/>
            <a:ext cx="7578623" cy="50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21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Confidence in a protected banking experience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462" y="42977"/>
            <a:ext cx="18251519" cy="10201084"/>
            <a:chOff x="0" y="0"/>
            <a:chExt cx="24335359" cy="136014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35360" cy="13601446"/>
            </a:xfrm>
            <a:custGeom>
              <a:avLst/>
              <a:gdLst/>
              <a:ahLst/>
              <a:cxnLst/>
              <a:rect r="r" b="b" t="t" l="l"/>
              <a:pathLst>
                <a:path h="13601446" w="24335360">
                  <a:moveTo>
                    <a:pt x="0" y="0"/>
                  </a:moveTo>
                  <a:lnTo>
                    <a:pt x="24335360" y="0"/>
                  </a:lnTo>
                  <a:lnTo>
                    <a:pt x="24335360" y="13601446"/>
                  </a:lnTo>
                  <a:lnTo>
                    <a:pt x="0" y="13601446"/>
                  </a:lnTo>
                  <a:close/>
                </a:path>
              </a:pathLst>
            </a:custGeom>
            <a:solidFill>
              <a:srgbClr val="000018">
                <a:alpha val="6588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96" cy="512064"/>
            <a:chOff x="0" y="0"/>
            <a:chExt cx="2858262" cy="682752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8" r="0" b="-20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33475" y="1133475"/>
            <a:ext cx="16029623" cy="8018145"/>
            <a:chOff x="0" y="0"/>
            <a:chExt cx="21372830" cy="106908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72830" cy="10690860"/>
            </a:xfrm>
            <a:custGeom>
              <a:avLst/>
              <a:gdLst/>
              <a:ahLst/>
              <a:cxnLst/>
              <a:rect r="r" b="b" t="t" l="l"/>
              <a:pathLst>
                <a:path h="10690860" w="21372830">
                  <a:moveTo>
                    <a:pt x="21372830" y="10690860"/>
                  </a:moveTo>
                  <a:lnTo>
                    <a:pt x="0" y="10690860"/>
                  </a:lnTo>
                  <a:lnTo>
                    <a:pt x="0" y="0"/>
                  </a:lnTo>
                  <a:lnTo>
                    <a:pt x="20107911" y="0"/>
                  </a:lnTo>
                  <a:cubicBezTo>
                    <a:pt x="20806411" y="0"/>
                    <a:pt x="21372830" y="566420"/>
                    <a:pt x="21372830" y="1264920"/>
                  </a:cubicBezTo>
                  <a:lnTo>
                    <a:pt x="21372830" y="10690860"/>
                  </a:lnTo>
                  <a:close/>
                </a:path>
              </a:pathLst>
            </a:custGeom>
            <a:blipFill>
              <a:blip r:embed="rId6"/>
              <a:stretch>
                <a:fillRect l="-14223" t="0" r="-1422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462" y="42977"/>
            <a:ext cx="18251519" cy="10201084"/>
            <a:chOff x="0" y="0"/>
            <a:chExt cx="24335359" cy="136014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35360" cy="13601446"/>
            </a:xfrm>
            <a:custGeom>
              <a:avLst/>
              <a:gdLst/>
              <a:ahLst/>
              <a:cxnLst/>
              <a:rect r="r" b="b" t="t" l="l"/>
              <a:pathLst>
                <a:path h="13601446" w="24335360">
                  <a:moveTo>
                    <a:pt x="0" y="0"/>
                  </a:moveTo>
                  <a:lnTo>
                    <a:pt x="24335360" y="0"/>
                  </a:lnTo>
                  <a:lnTo>
                    <a:pt x="24335360" y="13601446"/>
                  </a:lnTo>
                  <a:lnTo>
                    <a:pt x="0" y="13601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042" r="0" b="-904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137829" y="486435"/>
            <a:ext cx="6995160" cy="125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82"/>
              </a:lnSpc>
            </a:pPr>
            <a:r>
              <a:rPr lang="en-US" b="true" sz="7998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Any Questions?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462" y="42977"/>
            <a:ext cx="18251519" cy="10201084"/>
            <a:chOff x="0" y="0"/>
            <a:chExt cx="24335359" cy="136014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35360" cy="13601446"/>
            </a:xfrm>
            <a:custGeom>
              <a:avLst/>
              <a:gdLst/>
              <a:ahLst/>
              <a:cxnLst/>
              <a:rect r="r" b="b" t="t" l="l"/>
              <a:pathLst>
                <a:path h="13601446" w="24335360">
                  <a:moveTo>
                    <a:pt x="0" y="0"/>
                  </a:moveTo>
                  <a:lnTo>
                    <a:pt x="24335360" y="0"/>
                  </a:lnTo>
                  <a:lnTo>
                    <a:pt x="24335360" y="13601446"/>
                  </a:lnTo>
                  <a:lnTo>
                    <a:pt x="0" y="13601446"/>
                  </a:lnTo>
                  <a:close/>
                </a:path>
              </a:pathLst>
            </a:custGeom>
            <a:solidFill>
              <a:srgbClr val="000018">
                <a:alpha val="6588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96" cy="512064"/>
            <a:chOff x="0" y="0"/>
            <a:chExt cx="2858262" cy="682752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8" r="0" b="-20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462" y="0"/>
            <a:ext cx="18227230" cy="10252805"/>
            <a:chOff x="0" y="0"/>
            <a:chExt cx="24302974" cy="13670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02974" cy="13670407"/>
            </a:xfrm>
            <a:custGeom>
              <a:avLst/>
              <a:gdLst/>
              <a:ahLst/>
              <a:cxnLst/>
              <a:rect r="r" b="b" t="t" l="l"/>
              <a:pathLst>
                <a:path h="13670407" w="24302974">
                  <a:moveTo>
                    <a:pt x="24302974" y="13670407"/>
                  </a:moveTo>
                  <a:lnTo>
                    <a:pt x="0" y="13670407"/>
                  </a:lnTo>
                  <a:lnTo>
                    <a:pt x="0" y="0"/>
                  </a:lnTo>
                  <a:lnTo>
                    <a:pt x="24302974" y="0"/>
                  </a:lnTo>
                  <a:lnTo>
                    <a:pt x="24302974" y="13670407"/>
                  </a:lnTo>
                  <a:close/>
                </a:path>
              </a:pathLst>
            </a:custGeom>
            <a:blipFill>
              <a:blip r:embed="rId6"/>
              <a:stretch>
                <a:fillRect l="-22220" t="0" r="-2222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462" y="0"/>
            <a:ext cx="18227230" cy="10252805"/>
            <a:chOff x="0" y="0"/>
            <a:chExt cx="24302974" cy="136704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02974" cy="13670407"/>
            </a:xfrm>
            <a:custGeom>
              <a:avLst/>
              <a:gdLst/>
              <a:ahLst/>
              <a:cxnLst/>
              <a:rect r="r" b="b" t="t" l="l"/>
              <a:pathLst>
                <a:path h="13670407" w="24302974">
                  <a:moveTo>
                    <a:pt x="24302974" y="13670407"/>
                  </a:moveTo>
                  <a:lnTo>
                    <a:pt x="0" y="13670407"/>
                  </a:lnTo>
                  <a:lnTo>
                    <a:pt x="0" y="0"/>
                  </a:lnTo>
                  <a:lnTo>
                    <a:pt x="24302974" y="0"/>
                  </a:lnTo>
                  <a:lnTo>
                    <a:pt x="24302974" y="13670407"/>
                  </a:lnTo>
                  <a:close/>
                </a:path>
              </a:pathLst>
            </a:custGeom>
            <a:blipFill>
              <a:blip r:embed="rId7"/>
              <a:stretch>
                <a:fillRect l="0" t="-133" r="0" b="-13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9092" y="42977"/>
            <a:ext cx="18238946" cy="10201084"/>
            <a:chOff x="0" y="0"/>
            <a:chExt cx="24318595" cy="136014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18595" cy="13601446"/>
            </a:xfrm>
            <a:custGeom>
              <a:avLst/>
              <a:gdLst/>
              <a:ahLst/>
              <a:cxnLst/>
              <a:rect r="r" b="b" t="t" l="l"/>
              <a:pathLst>
                <a:path h="13601446" w="24318595">
                  <a:moveTo>
                    <a:pt x="0" y="0"/>
                  </a:moveTo>
                  <a:lnTo>
                    <a:pt x="24318595" y="0"/>
                  </a:lnTo>
                  <a:lnTo>
                    <a:pt x="24318595" y="13601446"/>
                  </a:lnTo>
                  <a:lnTo>
                    <a:pt x="0" y="13601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4" r="0" b="-134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DAHQsavO0ZU</dc:identifier>
  <dcterms:modified xsi:type="dcterms:W3CDTF">2011-08-01T06:04:30Z</dcterms:modified>
  <cp:revision>1</cp:revision>
  <dc:title>Group5_Fraud Detection System For Financial Transactions.pptx_20260728_204354_0000.pptx</dc:title>
</cp:coreProperties>
</file>